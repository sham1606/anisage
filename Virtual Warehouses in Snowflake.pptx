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Liter" charset="-122" pitchFamily="34"/>
      <p:regular r:id="rId19"/>
    </p:embeddedFont>
    <p:embeddedFont>
      <p:font typeface="Quattrocento Sans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0" y="0"/>
            <a:ext cx="4826000" cy="3302000"/>
          </a:xfrm>
          <a:prstGeom prst="ellipse">
            <a:avLst/>
          </a:prstGeom>
          <a:solidFill>
            <a:srgbClr val="1B4D8C">
              <a:alpha val="12549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588000"/>
            <a:ext cx="2286000" cy="3556000"/>
          </a:xfrm>
          <a:prstGeom prst="ellipse">
            <a:avLst/>
          </a:prstGeom>
          <a:solidFill>
            <a:srgbClr val="29B2A6">
              <a:alpha val="8235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900000">
            <a:off x="13335000" y="6096000"/>
            <a:ext cx="2286000" cy="2286000"/>
          </a:xfrm>
          <a:prstGeom prst="roundRect">
            <a:avLst>
              <a:gd name="adj" fmla="val 12000"/>
            </a:avLst>
          </a:prstGeom>
          <a:solidFill>
            <a:srgbClr val="1B4D8C">
              <a:alpha val="9412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3492500"/>
            <a:ext cx="2540000" cy="508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3746500"/>
            <a:ext cx="12700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42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WAREHOUSES IN SNOWFLAKE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4318000" y="4699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00" dirty="0">
                <a:solidFill>
                  <a:srgbClr val="B8C8DC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Compute Layer Explained Simply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223000" y="5461000"/>
            <a:ext cx="3810000" cy="25400"/>
          </a:xfrm>
          <a:prstGeom prst="rect">
            <a:avLst/>
          </a:prstGeom>
          <a:solidFill>
            <a:srgbClr val="6B8299">
              <a:alpha val="37647"/>
            </a:srgbClr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508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778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2332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43000" y="2159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3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Architecture Overview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3302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Storage, Compute &amp; Cloud Services layers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842000" y="1778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2332">
                <a:alpha val="3922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223000" y="2159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223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Warehouse Basics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23000" y="3302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Definition, features &amp; sizing options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0922000" y="1778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2332">
                <a:alpha val="392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303000" y="2159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303000" y="279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303000" y="3302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Query flow, compute allocation &amp; scaling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302000" y="5080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2332">
                <a:alpha val="392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83000" y="5461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83000" y="609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Optimization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83000" y="6604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Pay-per-second billing, auto-suspend &amp; best practices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382000" y="5080000"/>
            <a:ext cx="4572000" cy="279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1a2332">
                <a:alpha val="3922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763000" y="5461000"/>
            <a:ext cx="825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763000" y="6096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Cases &amp; Best Practices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63000" y="6604000"/>
            <a:ext cx="381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scenarios &amp; actionable recommendations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Snowflake Architecture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6858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8075" y="1968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400050" y="183773"/>
                </a:moveTo>
                <a:cubicBezTo>
                  <a:pt x="386834" y="192524"/>
                  <a:pt x="371654" y="199579"/>
                  <a:pt x="355848" y="205204"/>
                </a:cubicBezTo>
                <a:cubicBezTo>
                  <a:pt x="313879" y="220206"/>
                  <a:pt x="258782" y="228600"/>
                  <a:pt x="200025" y="228600"/>
                </a:cubicBezTo>
                <a:cubicBezTo>
                  <a:pt x="141268" y="228600"/>
                  <a:pt x="86082" y="220117"/>
                  <a:pt x="44202" y="205204"/>
                </a:cubicBezTo>
                <a:cubicBezTo>
                  <a:pt x="28486" y="199579"/>
                  <a:pt x="13216" y="192524"/>
                  <a:pt x="0" y="183773"/>
                </a:cubicBezTo>
                <a:lnTo>
                  <a:pt x="0" y="257175"/>
                </a:lnTo>
                <a:cubicBezTo>
                  <a:pt x="0" y="296644"/>
                  <a:pt x="89565" y="328613"/>
                  <a:pt x="200025" y="328613"/>
                </a:cubicBezTo>
                <a:cubicBezTo>
                  <a:pt x="310485" y="328613"/>
                  <a:pt x="400050" y="296644"/>
                  <a:pt x="400050" y="257175"/>
                </a:cubicBezTo>
                <a:lnTo>
                  <a:pt x="400050" y="183773"/>
                </a:lnTo>
                <a:close/>
                <a:moveTo>
                  <a:pt x="400050" y="114300"/>
                </a:moveTo>
                <a:lnTo>
                  <a:pt x="400050" y="71438"/>
                </a:lnTo>
                <a:cubicBezTo>
                  <a:pt x="400050" y="31968"/>
                  <a:pt x="310485" y="0"/>
                  <a:pt x="200025" y="0"/>
                </a:cubicBezTo>
                <a:cubicBezTo>
                  <a:pt x="89565" y="0"/>
                  <a:pt x="0" y="31968"/>
                  <a:pt x="0" y="71438"/>
                </a:cubicBezTo>
                <a:lnTo>
                  <a:pt x="0" y="114300"/>
                </a:lnTo>
                <a:cubicBezTo>
                  <a:pt x="0" y="153769"/>
                  <a:pt x="89565" y="185738"/>
                  <a:pt x="200025" y="185738"/>
                </a:cubicBezTo>
                <a:cubicBezTo>
                  <a:pt x="310485" y="185738"/>
                  <a:pt x="400050" y="153769"/>
                  <a:pt x="400050" y="114300"/>
                </a:cubicBezTo>
                <a:close/>
                <a:moveTo>
                  <a:pt x="355848" y="348079"/>
                </a:moveTo>
                <a:cubicBezTo>
                  <a:pt x="313968" y="362992"/>
                  <a:pt x="258872" y="371475"/>
                  <a:pt x="200025" y="371475"/>
                </a:cubicBezTo>
                <a:cubicBezTo>
                  <a:pt x="141178" y="371475"/>
                  <a:pt x="86082" y="362992"/>
                  <a:pt x="44202" y="348079"/>
                </a:cubicBezTo>
                <a:cubicBezTo>
                  <a:pt x="28486" y="342454"/>
                  <a:pt x="13216" y="335399"/>
                  <a:pt x="0" y="326648"/>
                </a:cubicBezTo>
                <a:lnTo>
                  <a:pt x="0" y="385763"/>
                </a:lnTo>
                <a:cubicBezTo>
                  <a:pt x="0" y="425232"/>
                  <a:pt x="89565" y="457200"/>
                  <a:pt x="200025" y="457200"/>
                </a:cubicBezTo>
                <a:cubicBezTo>
                  <a:pt x="310485" y="457200"/>
                  <a:pt x="400050" y="425232"/>
                  <a:pt x="400050" y="385763"/>
                </a:cubicBezTo>
                <a:lnTo>
                  <a:pt x="400050" y="326648"/>
                </a:lnTo>
                <a:cubicBezTo>
                  <a:pt x="386834" y="335399"/>
                  <a:pt x="371654" y="342454"/>
                  <a:pt x="355848" y="348079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19431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Storage Layer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14500" y="2349500"/>
            <a:ext cx="5588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data stored in cloud storage (S3, Azure Blob, GCS). Optimized columnar format with automatic compression and encryption.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3937000"/>
            <a:ext cx="6858000" cy="18415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25400">
            <a:solidFill>
              <a:srgbClr val="1B4D8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08075" y="42545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57150" y="28575"/>
                </a:moveTo>
                <a:cubicBezTo>
                  <a:pt x="25628" y="28575"/>
                  <a:pt x="0" y="54203"/>
                  <a:pt x="0" y="85725"/>
                </a:cubicBezTo>
                <a:lnTo>
                  <a:pt x="0" y="142875"/>
                </a:lnTo>
                <a:cubicBezTo>
                  <a:pt x="0" y="174397"/>
                  <a:pt x="25628" y="200025"/>
                  <a:pt x="57150" y="200025"/>
                </a:cubicBezTo>
                <a:lnTo>
                  <a:pt x="342900" y="200025"/>
                </a:lnTo>
                <a:cubicBezTo>
                  <a:pt x="374422" y="200025"/>
                  <a:pt x="400050" y="174397"/>
                  <a:pt x="400050" y="142875"/>
                </a:cubicBezTo>
                <a:lnTo>
                  <a:pt x="400050" y="85725"/>
                </a:lnTo>
                <a:cubicBezTo>
                  <a:pt x="400050" y="54203"/>
                  <a:pt x="374422" y="28575"/>
                  <a:pt x="342900" y="28575"/>
                </a:cubicBezTo>
                <a:lnTo>
                  <a:pt x="57150" y="28575"/>
                </a:lnTo>
                <a:close/>
                <a:moveTo>
                  <a:pt x="250031" y="92869"/>
                </a:moveTo>
                <a:cubicBezTo>
                  <a:pt x="261859" y="92869"/>
                  <a:pt x="271463" y="102472"/>
                  <a:pt x="271463" y="114300"/>
                </a:cubicBezTo>
                <a:cubicBezTo>
                  <a:pt x="271463" y="126128"/>
                  <a:pt x="261859" y="135731"/>
                  <a:pt x="250031" y="135731"/>
                </a:cubicBezTo>
                <a:cubicBezTo>
                  <a:pt x="238203" y="135731"/>
                  <a:pt x="228600" y="126128"/>
                  <a:pt x="228600" y="114300"/>
                </a:cubicBezTo>
                <a:cubicBezTo>
                  <a:pt x="228600" y="102472"/>
                  <a:pt x="238203" y="92869"/>
                  <a:pt x="250031" y="92869"/>
                </a:cubicBezTo>
                <a:close/>
                <a:moveTo>
                  <a:pt x="300038" y="114300"/>
                </a:moveTo>
                <a:cubicBezTo>
                  <a:pt x="300038" y="102472"/>
                  <a:pt x="309641" y="92869"/>
                  <a:pt x="321469" y="92869"/>
                </a:cubicBezTo>
                <a:cubicBezTo>
                  <a:pt x="333297" y="92869"/>
                  <a:pt x="342900" y="102472"/>
                  <a:pt x="342900" y="114300"/>
                </a:cubicBezTo>
                <a:cubicBezTo>
                  <a:pt x="342900" y="126128"/>
                  <a:pt x="333297" y="135731"/>
                  <a:pt x="321469" y="135731"/>
                </a:cubicBezTo>
                <a:cubicBezTo>
                  <a:pt x="309641" y="135731"/>
                  <a:pt x="300038" y="126128"/>
                  <a:pt x="300038" y="114300"/>
                </a:cubicBezTo>
                <a:close/>
                <a:moveTo>
                  <a:pt x="57150" y="257175"/>
                </a:moveTo>
                <a:cubicBezTo>
                  <a:pt x="25628" y="257175"/>
                  <a:pt x="0" y="282803"/>
                  <a:pt x="0" y="314325"/>
                </a:cubicBezTo>
                <a:lnTo>
                  <a:pt x="0" y="371475"/>
                </a:lnTo>
                <a:cubicBezTo>
                  <a:pt x="0" y="402997"/>
                  <a:pt x="25628" y="428625"/>
                  <a:pt x="57150" y="428625"/>
                </a:cubicBezTo>
                <a:lnTo>
                  <a:pt x="342900" y="428625"/>
                </a:lnTo>
                <a:cubicBezTo>
                  <a:pt x="374422" y="428625"/>
                  <a:pt x="400050" y="402997"/>
                  <a:pt x="400050" y="371475"/>
                </a:cubicBezTo>
                <a:lnTo>
                  <a:pt x="400050" y="314325"/>
                </a:lnTo>
                <a:cubicBezTo>
                  <a:pt x="400050" y="282803"/>
                  <a:pt x="374422" y="257175"/>
                  <a:pt x="342900" y="257175"/>
                </a:cubicBezTo>
                <a:lnTo>
                  <a:pt x="57150" y="257175"/>
                </a:lnTo>
                <a:close/>
                <a:moveTo>
                  <a:pt x="250031" y="321469"/>
                </a:moveTo>
                <a:cubicBezTo>
                  <a:pt x="261859" y="321469"/>
                  <a:pt x="271463" y="331072"/>
                  <a:pt x="271463" y="342900"/>
                </a:cubicBezTo>
                <a:cubicBezTo>
                  <a:pt x="271463" y="354728"/>
                  <a:pt x="261859" y="364331"/>
                  <a:pt x="250031" y="364331"/>
                </a:cubicBezTo>
                <a:cubicBezTo>
                  <a:pt x="238203" y="364331"/>
                  <a:pt x="228600" y="354728"/>
                  <a:pt x="228600" y="342900"/>
                </a:cubicBezTo>
                <a:cubicBezTo>
                  <a:pt x="228600" y="331072"/>
                  <a:pt x="238203" y="321469"/>
                  <a:pt x="250031" y="321469"/>
                </a:cubicBezTo>
                <a:close/>
                <a:moveTo>
                  <a:pt x="300038" y="342900"/>
                </a:moveTo>
                <a:cubicBezTo>
                  <a:pt x="300038" y="331072"/>
                  <a:pt x="309641" y="321469"/>
                  <a:pt x="321469" y="321469"/>
                </a:cubicBezTo>
                <a:cubicBezTo>
                  <a:pt x="333297" y="321469"/>
                  <a:pt x="342900" y="331072"/>
                  <a:pt x="342900" y="342900"/>
                </a:cubicBezTo>
                <a:cubicBezTo>
                  <a:pt x="342900" y="354728"/>
                  <a:pt x="333297" y="364331"/>
                  <a:pt x="321469" y="364331"/>
                </a:cubicBezTo>
                <a:cubicBezTo>
                  <a:pt x="309641" y="364331"/>
                  <a:pt x="300038" y="354728"/>
                  <a:pt x="300038" y="342900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10" name="Text 8"/>
          <p:cNvSpPr/>
          <p:nvPr/>
        </p:nvSpPr>
        <p:spPr>
          <a:xfrm>
            <a:off x="1714500" y="42291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Compute Layer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714500" y="4635500"/>
            <a:ext cx="558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Warehouses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execute queries, load data, and run DML operations. Independent and elastic.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842000"/>
            <a:ext cx="6858000" cy="184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0925" y="61595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0" y="300038"/>
                </a:moveTo>
                <a:cubicBezTo>
                  <a:pt x="0" y="371029"/>
                  <a:pt x="57596" y="428625"/>
                  <a:pt x="128588" y="428625"/>
                </a:cubicBezTo>
                <a:lnTo>
                  <a:pt x="400050" y="428625"/>
                </a:lnTo>
                <a:cubicBezTo>
                  <a:pt x="463183" y="428625"/>
                  <a:pt x="514350" y="377458"/>
                  <a:pt x="514350" y="314325"/>
                </a:cubicBezTo>
                <a:cubicBezTo>
                  <a:pt x="514350" y="268248"/>
                  <a:pt x="487114" y="228511"/>
                  <a:pt x="447824" y="210473"/>
                </a:cubicBezTo>
                <a:cubicBezTo>
                  <a:pt x="453807" y="198775"/>
                  <a:pt x="457200" y="185470"/>
                  <a:pt x="457200" y="171450"/>
                </a:cubicBezTo>
                <a:cubicBezTo>
                  <a:pt x="457200" y="124123"/>
                  <a:pt x="418802" y="85725"/>
                  <a:pt x="371475" y="85725"/>
                </a:cubicBezTo>
                <a:cubicBezTo>
                  <a:pt x="355669" y="85725"/>
                  <a:pt x="340935" y="90011"/>
                  <a:pt x="328255" y="97423"/>
                </a:cubicBezTo>
                <a:cubicBezTo>
                  <a:pt x="306735" y="56525"/>
                  <a:pt x="263783" y="28575"/>
                  <a:pt x="214313" y="28575"/>
                </a:cubicBezTo>
                <a:cubicBezTo>
                  <a:pt x="143321" y="28575"/>
                  <a:pt x="85725" y="86171"/>
                  <a:pt x="85725" y="157163"/>
                </a:cubicBezTo>
                <a:cubicBezTo>
                  <a:pt x="85725" y="164306"/>
                  <a:pt x="86350" y="171361"/>
                  <a:pt x="87422" y="178147"/>
                </a:cubicBezTo>
                <a:cubicBezTo>
                  <a:pt x="36612" y="195292"/>
                  <a:pt x="0" y="243423"/>
                  <a:pt x="0" y="300038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14" name="Text 12"/>
          <p:cNvSpPr/>
          <p:nvPr/>
        </p:nvSpPr>
        <p:spPr>
          <a:xfrm>
            <a:off x="1714500" y="63246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Cloud Services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14500" y="67310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planning, optimization, caching, and metadata management. Always on — no warehouse needed.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91000" y="3683000"/>
            <a:ext cx="0" cy="254000"/>
          </a:xfrm>
          <a:prstGeom prst="straightConnector1">
            <a:avLst/>
          </a:prstGeom>
          <a:noFill/>
          <a:ln w="25400">
            <a:solidFill>
              <a:srgbClr val="6B8299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4191000" y="5588000"/>
            <a:ext cx="0" cy="254000"/>
          </a:xfrm>
          <a:prstGeom prst="straightConnector1">
            <a:avLst/>
          </a:prstGeom>
          <a:noFill/>
          <a:ln w="25400">
            <a:solidFill>
              <a:srgbClr val="6B8299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8128000" y="1651000"/>
            <a:ext cx="7366000" cy="603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2332">
                <a:alpha val="3922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572500" y="1968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72500" y="2413000"/>
            <a:ext cx="635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21" name="Text 19"/>
          <p:cNvSpPr/>
          <p:nvPr/>
        </p:nvSpPr>
        <p:spPr>
          <a:xfrm>
            <a:off x="8572500" y="2667000"/>
            <a:ext cx="6477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and Storage are separated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you can scale them independently without affecting each other.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72500" y="406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Think of it like a library: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94725" y="469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6B8299"/>
          </a:solidFill>
          <a:ln/>
        </p:spPr>
      </p:sp>
      <p:sp>
        <p:nvSpPr>
          <p:cNvPr id="24" name="Text 22"/>
          <p:cNvSpPr/>
          <p:nvPr/>
        </p:nvSpPr>
        <p:spPr>
          <a:xfrm>
            <a:off x="9080500" y="46736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Storage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Library shelves (holds all the books)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572500" y="552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44475"/>
                </a:lnTo>
                <a:cubicBezTo>
                  <a:pt x="0" y="268992"/>
                  <a:pt x="19933" y="288925"/>
                  <a:pt x="44450" y="288925"/>
                </a:cubicBezTo>
                <a:lnTo>
                  <a:pt x="144463" y="288925"/>
                </a:lnTo>
                <a:lnTo>
                  <a:pt x="133350" y="322263"/>
                </a:lnTo>
                <a:lnTo>
                  <a:pt x="83344" y="322263"/>
                </a:lnTo>
                <a:cubicBezTo>
                  <a:pt x="74106" y="322263"/>
                  <a:pt x="66675" y="329694"/>
                  <a:pt x="66675" y="338931"/>
                </a:cubicBezTo>
                <a:cubicBezTo>
                  <a:pt x="66675" y="348169"/>
                  <a:pt x="74106" y="355600"/>
                  <a:pt x="83344" y="355600"/>
                </a:cubicBezTo>
                <a:lnTo>
                  <a:pt x="272256" y="355600"/>
                </a:lnTo>
                <a:cubicBezTo>
                  <a:pt x="281494" y="355600"/>
                  <a:pt x="288925" y="348169"/>
                  <a:pt x="288925" y="338931"/>
                </a:cubicBezTo>
                <a:cubicBezTo>
                  <a:pt x="288925" y="329694"/>
                  <a:pt x="281494" y="322263"/>
                  <a:pt x="272256" y="322263"/>
                </a:cubicBezTo>
                <a:lnTo>
                  <a:pt x="222250" y="322263"/>
                </a:lnTo>
                <a:lnTo>
                  <a:pt x="211138" y="288925"/>
                </a:lnTo>
                <a:lnTo>
                  <a:pt x="311150" y="288925"/>
                </a:lnTo>
                <a:cubicBezTo>
                  <a:pt x="335667" y="288925"/>
                  <a:pt x="355600" y="268992"/>
                  <a:pt x="355600" y="244475"/>
                </a:cubicBezTo>
                <a:lnTo>
                  <a:pt x="355600" y="66675"/>
                </a:lnTo>
                <a:cubicBezTo>
                  <a:pt x="355600" y="42158"/>
                  <a:pt x="335667" y="22225"/>
                  <a:pt x="311150" y="22225"/>
                </a:cubicBezTo>
                <a:lnTo>
                  <a:pt x="44450" y="22225"/>
                </a:lnTo>
                <a:close/>
                <a:moveTo>
                  <a:pt x="66675" y="66675"/>
                </a:moveTo>
                <a:lnTo>
                  <a:pt x="288925" y="66675"/>
                </a:lnTo>
                <a:cubicBezTo>
                  <a:pt x="301218" y="66675"/>
                  <a:pt x="311150" y="76607"/>
                  <a:pt x="311150" y="88900"/>
                </a:cubicBezTo>
                <a:lnTo>
                  <a:pt x="311150" y="200025"/>
                </a:lnTo>
                <a:cubicBezTo>
                  <a:pt x="311150" y="212318"/>
                  <a:pt x="301218" y="222250"/>
                  <a:pt x="288925" y="222250"/>
                </a:cubicBezTo>
                <a:lnTo>
                  <a:pt x="66675" y="222250"/>
                </a:lnTo>
                <a:cubicBezTo>
                  <a:pt x="54382" y="222250"/>
                  <a:pt x="44450" y="212318"/>
                  <a:pt x="44450" y="200025"/>
                </a:cubicBezTo>
                <a:lnTo>
                  <a:pt x="44450" y="88900"/>
                </a:lnTo>
                <a:cubicBezTo>
                  <a:pt x="44450" y="76607"/>
                  <a:pt x="54382" y="66675"/>
                  <a:pt x="66675" y="66675"/>
                </a:cubicBezTo>
                <a:close/>
              </a:path>
            </a:pathLst>
          </a:custGeom>
          <a:solidFill>
            <a:srgbClr val="6B8299"/>
          </a:solidFill>
          <a:ln/>
        </p:spPr>
      </p:sp>
      <p:sp>
        <p:nvSpPr>
          <p:cNvPr id="26" name="Text 24"/>
          <p:cNvSpPr/>
          <p:nvPr/>
        </p:nvSpPr>
        <p:spPr>
          <a:xfrm>
            <a:off x="9080500" y="54991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Reading desks (where you work)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94725" y="6350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109576" y="172244"/>
                  <a:pt x="72231" y="134899"/>
                  <a:pt x="72231" y="88900"/>
                </a:cubicBezTo>
                <a:cubicBezTo>
                  <a:pt x="72231" y="42901"/>
                  <a:pt x="109576" y="5556"/>
                  <a:pt x="155575" y="5556"/>
                </a:cubicBezTo>
                <a:cubicBezTo>
                  <a:pt x="201574" y="5556"/>
                  <a:pt x="238919" y="42901"/>
                  <a:pt x="238919" y="88900"/>
                </a:cubicBezTo>
                <a:cubicBezTo>
                  <a:pt x="238919" y="134899"/>
                  <a:pt x="201574" y="172244"/>
                  <a:pt x="155575" y="172244"/>
                </a:cubicBezTo>
                <a:close/>
                <a:moveTo>
                  <a:pt x="134392" y="211138"/>
                </a:moveTo>
                <a:lnTo>
                  <a:pt x="176758" y="211138"/>
                </a:lnTo>
                <a:cubicBezTo>
                  <a:pt x="183495" y="211138"/>
                  <a:pt x="188913" y="216555"/>
                  <a:pt x="188913" y="223292"/>
                </a:cubicBezTo>
                <a:cubicBezTo>
                  <a:pt x="188913" y="226209"/>
                  <a:pt x="187871" y="228987"/>
                  <a:pt x="185995" y="231209"/>
                </a:cubicBezTo>
                <a:lnTo>
                  <a:pt x="166965" y="253434"/>
                </a:lnTo>
                <a:lnTo>
                  <a:pt x="188496" y="333375"/>
                </a:lnTo>
                <a:lnTo>
                  <a:pt x="188913" y="333375"/>
                </a:lnTo>
                <a:lnTo>
                  <a:pt x="212943" y="237182"/>
                </a:lnTo>
                <a:cubicBezTo>
                  <a:pt x="214471" y="231140"/>
                  <a:pt x="220653" y="227459"/>
                  <a:pt x="226487" y="229681"/>
                </a:cubicBezTo>
                <a:cubicBezTo>
                  <a:pt x="269478" y="246072"/>
                  <a:pt x="300038" y="287744"/>
                  <a:pt x="300038" y="336500"/>
                </a:cubicBezTo>
                <a:cubicBezTo>
                  <a:pt x="300038" y="346988"/>
                  <a:pt x="291495" y="355531"/>
                  <a:pt x="281007" y="355531"/>
                </a:cubicBezTo>
                <a:lnTo>
                  <a:pt x="30143" y="355600"/>
                </a:lnTo>
                <a:cubicBezTo>
                  <a:pt x="19655" y="355600"/>
                  <a:pt x="11112" y="347057"/>
                  <a:pt x="11112" y="336570"/>
                </a:cubicBezTo>
                <a:cubicBezTo>
                  <a:pt x="11112" y="287814"/>
                  <a:pt x="41672" y="246142"/>
                  <a:pt x="84663" y="229751"/>
                </a:cubicBezTo>
                <a:cubicBezTo>
                  <a:pt x="90497" y="227528"/>
                  <a:pt x="96679" y="231209"/>
                  <a:pt x="98207" y="237252"/>
                </a:cubicBezTo>
                <a:lnTo>
                  <a:pt x="122238" y="333444"/>
                </a:lnTo>
                <a:lnTo>
                  <a:pt x="122654" y="333444"/>
                </a:lnTo>
                <a:lnTo>
                  <a:pt x="144185" y="253504"/>
                </a:lnTo>
                <a:lnTo>
                  <a:pt x="125155" y="231279"/>
                </a:lnTo>
                <a:cubicBezTo>
                  <a:pt x="123279" y="229056"/>
                  <a:pt x="122238" y="226278"/>
                  <a:pt x="122238" y="223361"/>
                </a:cubicBezTo>
                <a:cubicBezTo>
                  <a:pt x="122238" y="216624"/>
                  <a:pt x="127655" y="211207"/>
                  <a:pt x="134392" y="211207"/>
                </a:cubicBezTo>
                <a:close/>
              </a:path>
            </a:pathLst>
          </a:custGeom>
          <a:solidFill>
            <a:srgbClr val="6B8299"/>
          </a:solidFill>
          <a:ln/>
        </p:spPr>
      </p:sp>
      <p:sp>
        <p:nvSpPr>
          <p:cNvPr id="28" name="Text 26"/>
          <p:cNvSpPr/>
          <p:nvPr/>
        </p:nvSpPr>
        <p:spPr>
          <a:xfrm>
            <a:off x="9080500" y="6324600"/>
            <a:ext cx="5969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Services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Librarian (helps you find books)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a Virtual Warehouse?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8890000" cy="16510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2700">
            <a:solidFill>
              <a:srgbClr val="1B4D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500" y="1905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457200"/>
                </a:moveTo>
                <a:cubicBezTo>
                  <a:pt x="354768" y="457200"/>
                  <a:pt x="457200" y="354768"/>
                  <a:pt x="457200" y="228600"/>
                </a:cubicBezTo>
                <a:cubicBezTo>
                  <a:pt x="457200" y="102432"/>
                  <a:pt x="354768" y="0"/>
                  <a:pt x="228600" y="0"/>
                </a:cubicBezTo>
                <a:cubicBezTo>
                  <a:pt x="102432" y="0"/>
                  <a:pt x="0" y="102432"/>
                  <a:pt x="0" y="228600"/>
                </a:cubicBezTo>
                <a:cubicBezTo>
                  <a:pt x="0" y="354768"/>
                  <a:pt x="102432" y="457200"/>
                  <a:pt x="228600" y="457200"/>
                </a:cubicBezTo>
                <a:close/>
                <a:moveTo>
                  <a:pt x="200025" y="142875"/>
                </a:moveTo>
                <a:cubicBezTo>
                  <a:pt x="200025" y="127104"/>
                  <a:pt x="212829" y="114300"/>
                  <a:pt x="228600" y="114300"/>
                </a:cubicBezTo>
                <a:cubicBezTo>
                  <a:pt x="244371" y="114300"/>
                  <a:pt x="257175" y="127104"/>
                  <a:pt x="257175" y="142875"/>
                </a:cubicBezTo>
                <a:cubicBezTo>
                  <a:pt x="257175" y="158646"/>
                  <a:pt x="244371" y="171450"/>
                  <a:pt x="228600" y="171450"/>
                </a:cubicBezTo>
                <a:cubicBezTo>
                  <a:pt x="212829" y="171450"/>
                  <a:pt x="200025" y="158646"/>
                  <a:pt x="200025" y="142875"/>
                </a:cubicBezTo>
                <a:close/>
                <a:moveTo>
                  <a:pt x="192881" y="200025"/>
                </a:moveTo>
                <a:lnTo>
                  <a:pt x="235744" y="200025"/>
                </a:lnTo>
                <a:cubicBezTo>
                  <a:pt x="247620" y="200025"/>
                  <a:pt x="257175" y="209580"/>
                  <a:pt x="257175" y="221456"/>
                </a:cubicBezTo>
                <a:lnTo>
                  <a:pt x="257175" y="300038"/>
                </a:lnTo>
                <a:lnTo>
                  <a:pt x="264319" y="300038"/>
                </a:lnTo>
                <a:cubicBezTo>
                  <a:pt x="276195" y="300038"/>
                  <a:pt x="285750" y="309592"/>
                  <a:pt x="285750" y="321469"/>
                </a:cubicBezTo>
                <a:cubicBezTo>
                  <a:pt x="285750" y="333345"/>
                  <a:pt x="276195" y="342900"/>
                  <a:pt x="264319" y="342900"/>
                </a:cubicBezTo>
                <a:lnTo>
                  <a:pt x="192881" y="342900"/>
                </a:lnTo>
                <a:cubicBezTo>
                  <a:pt x="181005" y="342900"/>
                  <a:pt x="171450" y="333345"/>
                  <a:pt x="171450" y="321469"/>
                </a:cubicBezTo>
                <a:cubicBezTo>
                  <a:pt x="171450" y="309592"/>
                  <a:pt x="181005" y="300038"/>
                  <a:pt x="192881" y="300038"/>
                </a:cubicBezTo>
                <a:lnTo>
                  <a:pt x="214313" y="300038"/>
                </a:lnTo>
                <a:lnTo>
                  <a:pt x="214313" y="242888"/>
                </a:lnTo>
                <a:lnTo>
                  <a:pt x="192881" y="242888"/>
                </a:lnTo>
                <a:cubicBezTo>
                  <a:pt x="181005" y="242888"/>
                  <a:pt x="171450" y="233333"/>
                  <a:pt x="171450" y="221456"/>
                </a:cubicBezTo>
                <a:cubicBezTo>
                  <a:pt x="171450" y="209580"/>
                  <a:pt x="181005" y="200025"/>
                  <a:pt x="192881" y="200025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6" name="Text 4"/>
          <p:cNvSpPr/>
          <p:nvPr/>
        </p:nvSpPr>
        <p:spPr>
          <a:xfrm>
            <a:off x="1714500" y="1778000"/>
            <a:ext cx="7620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Warehouse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a cluster of compute resources (CPU, memory, SSD) that executes queries, loads data, and performs DML operations in Snowflake.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302000"/>
            <a:ext cx="8890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is the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"engine"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powers your SQL queries</a:t>
            </a:r>
            <a:endParaRPr lang="en-US" sz="2000" dirty="0"/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Independent from storage — multiple warehouses can access the same data</a:t>
            </a:r>
            <a:endParaRPr lang="en-US" sz="2000" dirty="0"/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You can create, resize, or suspend warehouses instantly</a:t>
            </a:r>
            <a:endParaRPr lang="en-US" sz="2000" dirty="0"/>
          </a:p>
          <a:p>
            <a:pPr marL="317500" indent="-3175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Each warehouse operates in complete isolation from others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62000" y="6413500"/>
            <a:ext cx="8890000" cy="1841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2332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79500" y="6667500"/>
            <a:ext cx="1270000" cy="330200"/>
          </a:xfrm>
          <a:prstGeom prst="roundRect">
            <a:avLst>
              <a:gd name="adj" fmla="val 12000"/>
            </a:avLst>
          </a:prstGeom>
          <a:solidFill>
            <a:srgbClr val="29B2A6"/>
          </a:solidFill>
          <a:ln/>
        </p:spPr>
      </p:sp>
      <p:sp>
        <p:nvSpPr>
          <p:cNvPr id="10" name="Text 8"/>
          <p:cNvSpPr/>
          <p:nvPr/>
        </p:nvSpPr>
        <p:spPr>
          <a:xfrm>
            <a:off x="1079500" y="6667500"/>
            <a:ext cx="127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9500" y="71120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Like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renting a kitchen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to cook — you only pay while you're cooking, and you can rent multiple kitchens without building new pantries.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287000" y="1587500"/>
            <a:ext cx="5207000" cy="660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2332">
                <a:alpha val="3922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604500" y="18415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Warehouse at a Glance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366500" y="2540000"/>
            <a:ext cx="3048000" cy="889000"/>
          </a:xfrm>
          <a:prstGeom prst="roundRect">
            <a:avLst>
              <a:gd name="adj" fmla="val 8000"/>
            </a:avLst>
          </a:prstGeom>
          <a:solidFill>
            <a:srgbClr val="1B4D8C"/>
          </a:solidFill>
          <a:ln/>
        </p:spPr>
      </p:sp>
      <p:sp>
        <p:nvSpPr>
          <p:cNvPr id="15" name="Text 13"/>
          <p:cNvSpPr/>
          <p:nvPr/>
        </p:nvSpPr>
        <p:spPr>
          <a:xfrm>
            <a:off x="11366500" y="2540000"/>
            <a:ext cx="3048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Virtual Warehouse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858500" y="39370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2700">
            <a:solidFill>
              <a:srgbClr val="1B4D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858500" y="393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CPU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82500" y="39370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2700">
            <a:solidFill>
              <a:srgbClr val="1B4D8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82500" y="393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906500" y="3937000"/>
            <a:ext cx="1270000" cy="6350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12700">
            <a:solidFill>
              <a:srgbClr val="1B4D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906500" y="3937000"/>
            <a:ext cx="127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1B4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SSD Cache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2890500" y="3429000"/>
            <a:ext cx="0" cy="508000"/>
          </a:xfrm>
          <a:prstGeom prst="straightConnector1">
            <a:avLst/>
          </a:prstGeom>
          <a:noFill/>
          <a:ln w="12700">
            <a:solidFill>
              <a:srgbClr val="6B8299"/>
            </a:solidFill>
            <a:prstDash val="solid"/>
            <a:headEnd type="none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13017500" y="3429000"/>
            <a:ext cx="0" cy="508000"/>
          </a:xfrm>
          <a:prstGeom prst="straightConnector1">
            <a:avLst/>
          </a:prstGeom>
          <a:noFill/>
          <a:ln w="12700">
            <a:solidFill>
              <a:srgbClr val="6B8299"/>
            </a:solidFill>
            <a:prstDash val="solid"/>
            <a:headEnd type="none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13144500" y="3429000"/>
            <a:ext cx="0" cy="508000"/>
          </a:xfrm>
          <a:prstGeom prst="straightConnector1">
            <a:avLst/>
          </a:prstGeom>
          <a:noFill/>
          <a:ln w="12700">
            <a:solidFill>
              <a:srgbClr val="6B8299"/>
            </a:solidFill>
            <a:prstDash val="solid"/>
            <a:headEnd type="none"/>
            <a:tailEnd type="arrow"/>
          </a:ln>
        </p:spPr>
      </p:sp>
      <p:sp>
        <p:nvSpPr>
          <p:cNvPr id="25" name="Text 23"/>
          <p:cNvSpPr/>
          <p:nvPr/>
        </p:nvSpPr>
        <p:spPr>
          <a:xfrm>
            <a:off x="10604500" y="50165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spc="100" kern="0" dirty="0">
                <a:solidFill>
                  <a:srgbClr val="6B82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858500" y="5524500"/>
            <a:ext cx="1270000" cy="5080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/>
        </p:spPr>
      </p:sp>
      <p:sp>
        <p:nvSpPr>
          <p:cNvPr id="27" name="Text 25"/>
          <p:cNvSpPr/>
          <p:nvPr/>
        </p:nvSpPr>
        <p:spPr>
          <a:xfrm>
            <a:off x="10858500" y="5524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4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Queries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382500" y="5524500"/>
            <a:ext cx="1270000" cy="5080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/>
        </p:spPr>
      </p:sp>
      <p:sp>
        <p:nvSpPr>
          <p:cNvPr id="29" name="Text 27"/>
          <p:cNvSpPr/>
          <p:nvPr/>
        </p:nvSpPr>
        <p:spPr>
          <a:xfrm>
            <a:off x="12382500" y="5524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4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 Load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13906500" y="5524500"/>
            <a:ext cx="1270000" cy="5080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/>
        </p:spPr>
      </p:sp>
      <p:sp>
        <p:nvSpPr>
          <p:cNvPr id="31" name="Text 29"/>
          <p:cNvSpPr/>
          <p:nvPr/>
        </p:nvSpPr>
        <p:spPr>
          <a:xfrm>
            <a:off x="13906500" y="5524500"/>
            <a:ext cx="12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1B4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DML Ops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858500" y="6477000"/>
            <a:ext cx="4318000" cy="635000"/>
          </a:xfrm>
          <a:prstGeom prst="roundRect">
            <a:avLst>
              <a:gd name="adj" fmla="val 10000"/>
            </a:avLst>
          </a:prstGeom>
          <a:solidFill>
            <a:srgbClr val="29B2A6">
              <a:alpha val="8235"/>
            </a:srgbClr>
          </a:solidFill>
          <a:ln w="12700">
            <a:solidFill>
              <a:srgbClr val="29B2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58500" y="6477000"/>
            <a:ext cx="431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29B2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Scales Independently of Storage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 of Virtual Warehouses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651000"/>
            <a:ext cx="7112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2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cubicBezTo>
                  <a:pt x="232708" y="0"/>
                  <a:pt x="236815" y="893"/>
                  <a:pt x="240566" y="2590"/>
                </a:cubicBezTo>
                <a:lnTo>
                  <a:pt x="408801" y="73938"/>
                </a:lnTo>
                <a:cubicBezTo>
                  <a:pt x="428446" y="82242"/>
                  <a:pt x="443091" y="101620"/>
                  <a:pt x="443002" y="125016"/>
                </a:cubicBezTo>
                <a:cubicBezTo>
                  <a:pt x="442555" y="213598"/>
                  <a:pt x="406122" y="375672"/>
                  <a:pt x="252264" y="449342"/>
                </a:cubicBezTo>
                <a:cubicBezTo>
                  <a:pt x="237351" y="456486"/>
                  <a:pt x="220028" y="456486"/>
                  <a:pt x="205115" y="449342"/>
                </a:cubicBezTo>
                <a:cubicBezTo>
                  <a:pt x="51167" y="375672"/>
                  <a:pt x="14823" y="213598"/>
                  <a:pt x="14377" y="125016"/>
                </a:cubicBezTo>
                <a:cubicBezTo>
                  <a:pt x="14287" y="101620"/>
                  <a:pt x="28932" y="82242"/>
                  <a:pt x="48577" y="73938"/>
                </a:cubicBezTo>
                <a:lnTo>
                  <a:pt x="216724" y="2590"/>
                </a:lnTo>
                <a:cubicBezTo>
                  <a:pt x="220474" y="893"/>
                  <a:pt x="224492" y="0"/>
                  <a:pt x="228600" y="0"/>
                </a:cubicBezTo>
                <a:close/>
                <a:moveTo>
                  <a:pt x="228600" y="59650"/>
                </a:moveTo>
                <a:lnTo>
                  <a:pt x="228600" y="397282"/>
                </a:lnTo>
                <a:cubicBezTo>
                  <a:pt x="351830" y="337631"/>
                  <a:pt x="384959" y="205472"/>
                  <a:pt x="385763" y="126355"/>
                </a:cubicBezTo>
                <a:lnTo>
                  <a:pt x="228600" y="59740"/>
                </a:lnTo>
                <a:lnTo>
                  <a:pt x="228600" y="59740"/>
                </a:ln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6" name="Text 4"/>
          <p:cNvSpPr/>
          <p:nvPr/>
        </p:nvSpPr>
        <p:spPr>
          <a:xfrm>
            <a:off x="1778000" y="19050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Independent Compute Clusters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78000" y="2286000"/>
            <a:ext cx="571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warehouse operates in isolation — no resource contention between teams.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382000" y="1651000"/>
            <a:ext cx="7112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2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99500" y="203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0"/>
                </a:moveTo>
                <a:cubicBezTo>
                  <a:pt x="257175" y="-15806"/>
                  <a:pt x="244406" y="-28575"/>
                  <a:pt x="228600" y="-28575"/>
                </a:cubicBezTo>
                <a:cubicBezTo>
                  <a:pt x="212794" y="-28575"/>
                  <a:pt x="200025" y="-15806"/>
                  <a:pt x="200025" y="0"/>
                </a:cubicBezTo>
                <a:lnTo>
                  <a:pt x="200025" y="228600"/>
                </a:lnTo>
                <a:cubicBezTo>
                  <a:pt x="200025" y="244406"/>
                  <a:pt x="212794" y="257175"/>
                  <a:pt x="228600" y="257175"/>
                </a:cubicBezTo>
                <a:cubicBezTo>
                  <a:pt x="244406" y="257175"/>
                  <a:pt x="257175" y="244406"/>
                  <a:pt x="257175" y="228600"/>
                </a:cubicBezTo>
                <a:lnTo>
                  <a:pt x="257175" y="0"/>
                </a:lnTo>
                <a:close/>
                <a:moveTo>
                  <a:pt x="130641" y="87868"/>
                </a:moveTo>
                <a:cubicBezTo>
                  <a:pt x="143589" y="78849"/>
                  <a:pt x="146715" y="60990"/>
                  <a:pt x="137696" y="48042"/>
                </a:cubicBezTo>
                <a:cubicBezTo>
                  <a:pt x="128677" y="35094"/>
                  <a:pt x="110817" y="31968"/>
                  <a:pt x="97869" y="40987"/>
                </a:cubicBezTo>
                <a:cubicBezTo>
                  <a:pt x="38755" y="82242"/>
                  <a:pt x="0" y="150912"/>
                  <a:pt x="0" y="228600"/>
                </a:cubicBezTo>
                <a:cubicBezTo>
                  <a:pt x="0" y="354866"/>
                  <a:pt x="102334" y="457200"/>
                  <a:pt x="228600" y="457200"/>
                </a:cubicBezTo>
                <a:cubicBezTo>
                  <a:pt x="354866" y="457200"/>
                  <a:pt x="457200" y="354866"/>
                  <a:pt x="457200" y="228600"/>
                </a:cubicBezTo>
                <a:cubicBezTo>
                  <a:pt x="457200" y="150912"/>
                  <a:pt x="418445" y="82242"/>
                  <a:pt x="359241" y="40987"/>
                </a:cubicBezTo>
                <a:cubicBezTo>
                  <a:pt x="346293" y="31968"/>
                  <a:pt x="328523" y="35094"/>
                  <a:pt x="319415" y="48042"/>
                </a:cubicBezTo>
                <a:cubicBezTo>
                  <a:pt x="310307" y="60990"/>
                  <a:pt x="313521" y="78760"/>
                  <a:pt x="326469" y="87868"/>
                </a:cubicBezTo>
                <a:cubicBezTo>
                  <a:pt x="370939" y="118943"/>
                  <a:pt x="399961" y="170378"/>
                  <a:pt x="399961" y="228600"/>
                </a:cubicBezTo>
                <a:cubicBezTo>
                  <a:pt x="399961" y="323255"/>
                  <a:pt x="323165" y="400050"/>
                  <a:pt x="228511" y="400050"/>
                </a:cubicBezTo>
                <a:cubicBezTo>
                  <a:pt x="133856" y="400050"/>
                  <a:pt x="57150" y="323255"/>
                  <a:pt x="57150" y="228600"/>
                </a:cubicBezTo>
                <a:cubicBezTo>
                  <a:pt x="57150" y="170378"/>
                  <a:pt x="86171" y="118854"/>
                  <a:pt x="130641" y="87868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10" name="Text 8"/>
          <p:cNvSpPr/>
          <p:nvPr/>
        </p:nvSpPr>
        <p:spPr>
          <a:xfrm>
            <a:off x="9398000" y="19050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Start / Stop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398000" y="2286000"/>
            <a:ext cx="571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Warehouses start when a query arrives and suspend when idle — no manual management.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3556000"/>
            <a:ext cx="7112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2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79500" y="3937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7181" y="0"/>
                </a:moveTo>
                <a:lnTo>
                  <a:pt x="435769" y="0"/>
                </a:lnTo>
                <a:cubicBezTo>
                  <a:pt x="447645" y="0"/>
                  <a:pt x="457200" y="9555"/>
                  <a:pt x="457200" y="21431"/>
                </a:cubicBezTo>
                <a:lnTo>
                  <a:pt x="457200" y="150019"/>
                </a:lnTo>
                <a:cubicBezTo>
                  <a:pt x="457200" y="158681"/>
                  <a:pt x="452021" y="166539"/>
                  <a:pt x="443984" y="169843"/>
                </a:cubicBezTo>
                <a:cubicBezTo>
                  <a:pt x="435947" y="173147"/>
                  <a:pt x="426750" y="171361"/>
                  <a:pt x="420588" y="165199"/>
                </a:cubicBezTo>
                <a:lnTo>
                  <a:pt x="385763" y="130373"/>
                </a:lnTo>
                <a:lnTo>
                  <a:pt x="308074" y="208062"/>
                </a:lnTo>
                <a:cubicBezTo>
                  <a:pt x="299680" y="216456"/>
                  <a:pt x="286107" y="216456"/>
                  <a:pt x="277803" y="208062"/>
                </a:cubicBezTo>
                <a:lnTo>
                  <a:pt x="249228" y="179487"/>
                </a:lnTo>
                <a:cubicBezTo>
                  <a:pt x="240834" y="171093"/>
                  <a:pt x="240834" y="157520"/>
                  <a:pt x="249228" y="149215"/>
                </a:cubicBezTo>
                <a:lnTo>
                  <a:pt x="326916" y="71527"/>
                </a:lnTo>
                <a:lnTo>
                  <a:pt x="292090" y="36701"/>
                </a:lnTo>
                <a:cubicBezTo>
                  <a:pt x="285929" y="30540"/>
                  <a:pt x="284143" y="21342"/>
                  <a:pt x="287447" y="13305"/>
                </a:cubicBezTo>
                <a:cubicBezTo>
                  <a:pt x="290751" y="5269"/>
                  <a:pt x="298519" y="0"/>
                  <a:pt x="307181" y="0"/>
                </a:cubicBezTo>
                <a:close/>
                <a:moveTo>
                  <a:pt x="150019" y="457200"/>
                </a:moveTo>
                <a:lnTo>
                  <a:pt x="21431" y="457200"/>
                </a:lnTo>
                <a:cubicBezTo>
                  <a:pt x="9555" y="457200"/>
                  <a:pt x="0" y="447645"/>
                  <a:pt x="0" y="435769"/>
                </a:cubicBezTo>
                <a:lnTo>
                  <a:pt x="0" y="307181"/>
                </a:lnTo>
                <a:cubicBezTo>
                  <a:pt x="0" y="298519"/>
                  <a:pt x="5179" y="290661"/>
                  <a:pt x="13216" y="287357"/>
                </a:cubicBezTo>
                <a:cubicBezTo>
                  <a:pt x="21253" y="284053"/>
                  <a:pt x="30450" y="285929"/>
                  <a:pt x="36612" y="292001"/>
                </a:cubicBezTo>
                <a:lnTo>
                  <a:pt x="71438" y="326827"/>
                </a:lnTo>
                <a:lnTo>
                  <a:pt x="149126" y="249138"/>
                </a:lnTo>
                <a:cubicBezTo>
                  <a:pt x="157520" y="240744"/>
                  <a:pt x="171093" y="240744"/>
                  <a:pt x="179397" y="249138"/>
                </a:cubicBezTo>
                <a:lnTo>
                  <a:pt x="207972" y="277713"/>
                </a:lnTo>
                <a:cubicBezTo>
                  <a:pt x="216366" y="286107"/>
                  <a:pt x="216366" y="299680"/>
                  <a:pt x="207972" y="307985"/>
                </a:cubicBezTo>
                <a:lnTo>
                  <a:pt x="130284" y="385673"/>
                </a:lnTo>
                <a:lnTo>
                  <a:pt x="165110" y="420499"/>
                </a:lnTo>
                <a:cubicBezTo>
                  <a:pt x="171271" y="426660"/>
                  <a:pt x="173057" y="435858"/>
                  <a:pt x="169753" y="443895"/>
                </a:cubicBezTo>
                <a:cubicBezTo>
                  <a:pt x="166449" y="451931"/>
                  <a:pt x="158681" y="457200"/>
                  <a:pt x="150019" y="457200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14" name="Text 12"/>
          <p:cNvSpPr/>
          <p:nvPr/>
        </p:nvSpPr>
        <p:spPr>
          <a:xfrm>
            <a:off x="1778000" y="38100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 Scaling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778000" y="4191000"/>
            <a:ext cx="571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Resize on-the-fly without downtime. Scale up for complex queries, down for light tasks.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382000" y="3556000"/>
            <a:ext cx="7112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2">
                <a:alpha val="3922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42350" y="3937000"/>
            <a:ext cx="571500" cy="457200"/>
          </a:xfrm>
          <a:custGeom>
            <a:avLst/>
            <a:gdLst/>
            <a:ahLst/>
            <a:cxnLst/>
            <a:rect l="l" t="t" r="r" b="b"/>
            <a:pathLst>
              <a:path w="571500" h="457200">
                <a:moveTo>
                  <a:pt x="285750" y="14288"/>
                </a:moveTo>
                <a:cubicBezTo>
                  <a:pt x="337006" y="14288"/>
                  <a:pt x="378619" y="55901"/>
                  <a:pt x="378619" y="107156"/>
                </a:cubicBezTo>
                <a:cubicBezTo>
                  <a:pt x="378619" y="158412"/>
                  <a:pt x="337006" y="200025"/>
                  <a:pt x="285750" y="200025"/>
                </a:cubicBezTo>
                <a:cubicBezTo>
                  <a:pt x="234494" y="200025"/>
                  <a:pt x="192881" y="158412"/>
                  <a:pt x="192881" y="107156"/>
                </a:cubicBezTo>
                <a:cubicBezTo>
                  <a:pt x="192881" y="55901"/>
                  <a:pt x="234494" y="14288"/>
                  <a:pt x="285750" y="14288"/>
                </a:cubicBezTo>
                <a:close/>
                <a:moveTo>
                  <a:pt x="85725" y="78581"/>
                </a:moveTo>
                <a:cubicBezTo>
                  <a:pt x="121210" y="78581"/>
                  <a:pt x="150019" y="107390"/>
                  <a:pt x="150019" y="142875"/>
                </a:cubicBezTo>
                <a:cubicBezTo>
                  <a:pt x="150019" y="178360"/>
                  <a:pt x="121210" y="207169"/>
                  <a:pt x="85725" y="207169"/>
                </a:cubicBezTo>
                <a:cubicBezTo>
                  <a:pt x="50240" y="207169"/>
                  <a:pt x="21431" y="178360"/>
                  <a:pt x="21431" y="142875"/>
                </a:cubicBezTo>
                <a:cubicBezTo>
                  <a:pt x="21431" y="107390"/>
                  <a:pt x="50240" y="78581"/>
                  <a:pt x="85725" y="78581"/>
                </a:cubicBezTo>
                <a:close/>
                <a:moveTo>
                  <a:pt x="0" y="371475"/>
                </a:moveTo>
                <a:cubicBezTo>
                  <a:pt x="0" y="308342"/>
                  <a:pt x="51167" y="257175"/>
                  <a:pt x="114300" y="257175"/>
                </a:cubicBezTo>
                <a:cubicBezTo>
                  <a:pt x="125730" y="257175"/>
                  <a:pt x="136803" y="258872"/>
                  <a:pt x="147251" y="261997"/>
                </a:cubicBezTo>
                <a:cubicBezTo>
                  <a:pt x="117872" y="294858"/>
                  <a:pt x="100013" y="338257"/>
                  <a:pt x="100013" y="385763"/>
                </a:cubicBezTo>
                <a:lnTo>
                  <a:pt x="100013" y="400050"/>
                </a:lnTo>
                <a:cubicBezTo>
                  <a:pt x="100013" y="410230"/>
                  <a:pt x="102156" y="419874"/>
                  <a:pt x="105995" y="428625"/>
                </a:cubicBezTo>
                <a:lnTo>
                  <a:pt x="28575" y="428625"/>
                </a:lnTo>
                <a:cubicBezTo>
                  <a:pt x="12769" y="428625"/>
                  <a:pt x="0" y="415856"/>
                  <a:pt x="0" y="400050"/>
                </a:cubicBezTo>
                <a:lnTo>
                  <a:pt x="0" y="371475"/>
                </a:lnTo>
                <a:close/>
                <a:moveTo>
                  <a:pt x="465505" y="428625"/>
                </a:moveTo>
                <a:cubicBezTo>
                  <a:pt x="469344" y="419874"/>
                  <a:pt x="471488" y="410230"/>
                  <a:pt x="471488" y="400050"/>
                </a:cubicBezTo>
                <a:lnTo>
                  <a:pt x="471488" y="385763"/>
                </a:lnTo>
                <a:cubicBezTo>
                  <a:pt x="471488" y="338257"/>
                  <a:pt x="453628" y="294858"/>
                  <a:pt x="424249" y="261997"/>
                </a:cubicBezTo>
                <a:cubicBezTo>
                  <a:pt x="434697" y="258872"/>
                  <a:pt x="445770" y="257175"/>
                  <a:pt x="457200" y="257175"/>
                </a:cubicBezTo>
                <a:cubicBezTo>
                  <a:pt x="520333" y="257175"/>
                  <a:pt x="571500" y="308342"/>
                  <a:pt x="571500" y="371475"/>
                </a:cubicBezTo>
                <a:lnTo>
                  <a:pt x="571500" y="400050"/>
                </a:lnTo>
                <a:cubicBezTo>
                  <a:pt x="571500" y="415856"/>
                  <a:pt x="558731" y="428625"/>
                  <a:pt x="542925" y="428625"/>
                </a:cubicBezTo>
                <a:lnTo>
                  <a:pt x="465505" y="428625"/>
                </a:lnTo>
                <a:close/>
                <a:moveTo>
                  <a:pt x="421481" y="142875"/>
                </a:moveTo>
                <a:cubicBezTo>
                  <a:pt x="421481" y="107390"/>
                  <a:pt x="450290" y="78581"/>
                  <a:pt x="485775" y="78581"/>
                </a:cubicBezTo>
                <a:cubicBezTo>
                  <a:pt x="521260" y="78581"/>
                  <a:pt x="550069" y="107390"/>
                  <a:pt x="550069" y="142875"/>
                </a:cubicBezTo>
                <a:cubicBezTo>
                  <a:pt x="550069" y="178360"/>
                  <a:pt x="521260" y="207169"/>
                  <a:pt x="485775" y="207169"/>
                </a:cubicBezTo>
                <a:cubicBezTo>
                  <a:pt x="450290" y="207169"/>
                  <a:pt x="421481" y="178360"/>
                  <a:pt x="421481" y="142875"/>
                </a:cubicBezTo>
                <a:close/>
                <a:moveTo>
                  <a:pt x="142875" y="385763"/>
                </a:moveTo>
                <a:cubicBezTo>
                  <a:pt x="142875" y="306824"/>
                  <a:pt x="206812" y="242888"/>
                  <a:pt x="285750" y="242888"/>
                </a:cubicBezTo>
                <a:cubicBezTo>
                  <a:pt x="364688" y="242888"/>
                  <a:pt x="428625" y="306824"/>
                  <a:pt x="428625" y="385763"/>
                </a:cubicBezTo>
                <a:lnTo>
                  <a:pt x="428625" y="400050"/>
                </a:lnTo>
                <a:cubicBezTo>
                  <a:pt x="428625" y="415856"/>
                  <a:pt x="415856" y="428625"/>
                  <a:pt x="400050" y="428625"/>
                </a:cubicBezTo>
                <a:lnTo>
                  <a:pt x="171450" y="428625"/>
                </a:lnTo>
                <a:cubicBezTo>
                  <a:pt x="155644" y="428625"/>
                  <a:pt x="142875" y="415856"/>
                  <a:pt x="142875" y="400050"/>
                </a:cubicBezTo>
                <a:lnTo>
                  <a:pt x="142875" y="385763"/>
                </a:ln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18" name="Text 16"/>
          <p:cNvSpPr/>
          <p:nvPr/>
        </p:nvSpPr>
        <p:spPr>
          <a:xfrm>
            <a:off x="9398000" y="38100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Concurrency Handling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98000" y="4191000"/>
            <a:ext cx="571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Multiple queries run simultaneously within a warehouse via multi-threading.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5461000"/>
            <a:ext cx="7112000" cy="1714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2">
                <a:alpha val="3922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89500" y="5842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57175" y="400050"/>
                </a:moveTo>
                <a:lnTo>
                  <a:pt x="57150" y="400050"/>
                </a:lnTo>
                <a:lnTo>
                  <a:pt x="57150" y="200025"/>
                </a:lnTo>
                <a:lnTo>
                  <a:pt x="100013" y="200025"/>
                </a:lnTo>
                <a:lnTo>
                  <a:pt x="100013" y="142875"/>
                </a:lnTo>
                <a:lnTo>
                  <a:pt x="57150" y="142875"/>
                </a:lnTo>
                <a:cubicBezTo>
                  <a:pt x="25628" y="142875"/>
                  <a:pt x="0" y="168503"/>
                  <a:pt x="0" y="200025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57175" y="457200"/>
                </a:lnTo>
                <a:cubicBezTo>
                  <a:pt x="288697" y="457200"/>
                  <a:pt x="314325" y="431572"/>
                  <a:pt x="314325" y="400050"/>
                </a:cubicBezTo>
                <a:lnTo>
                  <a:pt x="314325" y="357188"/>
                </a:lnTo>
                <a:lnTo>
                  <a:pt x="257175" y="357188"/>
                </a:lnTo>
                <a:lnTo>
                  <a:pt x="257175" y="400050"/>
                </a:lnTo>
                <a:close/>
                <a:moveTo>
                  <a:pt x="200025" y="314325"/>
                </a:moveTo>
                <a:lnTo>
                  <a:pt x="400050" y="314325"/>
                </a:lnTo>
                <a:cubicBezTo>
                  <a:pt x="431572" y="314325"/>
                  <a:pt x="457200" y="288697"/>
                  <a:pt x="457200" y="257175"/>
                </a:cubicBezTo>
                <a:lnTo>
                  <a:pt x="457200" y="57150"/>
                </a:lnTo>
                <a:cubicBezTo>
                  <a:pt x="457200" y="25628"/>
                  <a:pt x="431572" y="0"/>
                  <a:pt x="400050" y="0"/>
                </a:cubicBezTo>
                <a:lnTo>
                  <a:pt x="200025" y="0"/>
                </a:lnTo>
                <a:cubicBezTo>
                  <a:pt x="168503" y="0"/>
                  <a:pt x="142875" y="25628"/>
                  <a:pt x="142875" y="57150"/>
                </a:cubicBezTo>
                <a:lnTo>
                  <a:pt x="142875" y="257175"/>
                </a:lnTo>
                <a:cubicBezTo>
                  <a:pt x="142875" y="288697"/>
                  <a:pt x="168503" y="314325"/>
                  <a:pt x="200025" y="314325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22" name="Text 20"/>
          <p:cNvSpPr/>
          <p:nvPr/>
        </p:nvSpPr>
        <p:spPr>
          <a:xfrm>
            <a:off x="5588000" y="57150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Zero-Copy Cloning Support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588000" y="6096000"/>
            <a:ext cx="5715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Warehouses can instantly work with cloned data — no duplication, no waiting.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Warehouse Types &amp; Sizes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587500"/>
          <a:ext cx="9525000" cy="4445000"/>
        </p:xfrm>
        <a:graphic>
          <a:graphicData uri="http://schemas.openxmlformats.org/drawingml/2006/table">
            <a:tbl>
              <a:tblPr/>
              <a:tblGrid>
                <a:gridCol w="2095500"/>
                <a:gridCol w="1905000"/>
                <a:gridCol w="2857500"/>
                <a:gridCol w="2667000"/>
              </a:tblGrid>
              <a:tr h="6223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Size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Servers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Best For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8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Workload Type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8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X-Small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Testing, exploration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9B2A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 / Test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Small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Development, light queries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29B2A6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Dev / Test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Medium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4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BI dashboards, reporting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4D8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Heavy analytics, ETL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4D8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X-Large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16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Large-scale analytics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4D8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Production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2X - 6X-Large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32 - 128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A2332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Massive ETL, data science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B4D8C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Enterprise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DE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6350000"/>
            <a:ext cx="95250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2">
                <a:alpha val="3922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123950" y="6667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7" name="Text 4"/>
          <p:cNvSpPr/>
          <p:nvPr/>
        </p:nvSpPr>
        <p:spPr>
          <a:xfrm>
            <a:off x="1587500" y="660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 Tip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87500" y="7048500"/>
            <a:ext cx="838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the smallest size that works. Scale up only when queries consistently take too long.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795000" y="1587500"/>
            <a:ext cx="4699000" cy="6159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2332">
                <a:alpha val="3922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112500" y="18415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 Warehouse Types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1112500" y="2260600"/>
            <a:ext cx="635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12" name="Shape 9"/>
          <p:cNvSpPr/>
          <p:nvPr/>
        </p:nvSpPr>
        <p:spPr>
          <a:xfrm>
            <a:off x="11112500" y="2603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50800" y="50800"/>
                </a:moveTo>
                <a:cubicBezTo>
                  <a:pt x="22781" y="50800"/>
                  <a:pt x="0" y="73581"/>
                  <a:pt x="0" y="101600"/>
                </a:cubicBezTo>
                <a:lnTo>
                  <a:pt x="0" y="107474"/>
                </a:lnTo>
                <a:cubicBezTo>
                  <a:pt x="0" y="112871"/>
                  <a:pt x="3493" y="117475"/>
                  <a:pt x="8017" y="120412"/>
                </a:cubicBezTo>
                <a:cubicBezTo>
                  <a:pt x="18494" y="127238"/>
                  <a:pt x="25400" y="138986"/>
                  <a:pt x="25400" y="152400"/>
                </a:cubicBezTo>
                <a:cubicBezTo>
                  <a:pt x="25400" y="165814"/>
                  <a:pt x="18494" y="177562"/>
                  <a:pt x="8017" y="184388"/>
                </a:cubicBezTo>
                <a:cubicBezTo>
                  <a:pt x="3493" y="187325"/>
                  <a:pt x="0" y="191929"/>
                  <a:pt x="0" y="197326"/>
                </a:cubicBezTo>
                <a:lnTo>
                  <a:pt x="0" y="241300"/>
                </a:lnTo>
                <a:lnTo>
                  <a:pt x="406400" y="241300"/>
                </a:lnTo>
                <a:lnTo>
                  <a:pt x="406400" y="197326"/>
                </a:lnTo>
                <a:cubicBezTo>
                  <a:pt x="406400" y="191929"/>
                  <a:pt x="402908" y="187325"/>
                  <a:pt x="398383" y="184388"/>
                </a:cubicBezTo>
                <a:cubicBezTo>
                  <a:pt x="387906" y="177562"/>
                  <a:pt x="381000" y="165814"/>
                  <a:pt x="381000" y="152400"/>
                </a:cubicBezTo>
                <a:cubicBezTo>
                  <a:pt x="381000" y="138986"/>
                  <a:pt x="387906" y="127238"/>
                  <a:pt x="398383" y="120412"/>
                </a:cubicBezTo>
                <a:cubicBezTo>
                  <a:pt x="402908" y="117475"/>
                  <a:pt x="406400" y="112871"/>
                  <a:pt x="406400" y="107474"/>
                </a:cubicBezTo>
                <a:lnTo>
                  <a:pt x="406400" y="101600"/>
                </a:lnTo>
                <a:cubicBezTo>
                  <a:pt x="406400" y="73581"/>
                  <a:pt x="383619" y="50800"/>
                  <a:pt x="355600" y="50800"/>
                </a:cubicBezTo>
                <a:lnTo>
                  <a:pt x="50800" y="50800"/>
                </a:lnTo>
                <a:close/>
                <a:moveTo>
                  <a:pt x="406400" y="330200"/>
                </a:moveTo>
                <a:lnTo>
                  <a:pt x="406400" y="279400"/>
                </a:lnTo>
                <a:lnTo>
                  <a:pt x="0" y="279400"/>
                </a:lnTo>
                <a:lnTo>
                  <a:pt x="0" y="330200"/>
                </a:lnTo>
                <a:cubicBezTo>
                  <a:pt x="0" y="344249"/>
                  <a:pt x="11351" y="355600"/>
                  <a:pt x="25400" y="355600"/>
                </a:cubicBezTo>
                <a:lnTo>
                  <a:pt x="76200" y="355600"/>
                </a:lnTo>
                <a:lnTo>
                  <a:pt x="76200" y="336550"/>
                </a:lnTo>
                <a:cubicBezTo>
                  <a:pt x="76200" y="325993"/>
                  <a:pt x="84693" y="317500"/>
                  <a:pt x="95250" y="317500"/>
                </a:cubicBezTo>
                <a:cubicBezTo>
                  <a:pt x="105807" y="317500"/>
                  <a:pt x="114300" y="325993"/>
                  <a:pt x="114300" y="336550"/>
                </a:cubicBezTo>
                <a:lnTo>
                  <a:pt x="114300" y="355600"/>
                </a:lnTo>
                <a:lnTo>
                  <a:pt x="184150" y="355600"/>
                </a:lnTo>
                <a:lnTo>
                  <a:pt x="184150" y="336550"/>
                </a:lnTo>
                <a:cubicBezTo>
                  <a:pt x="184150" y="325993"/>
                  <a:pt x="192643" y="317500"/>
                  <a:pt x="203200" y="317500"/>
                </a:cubicBezTo>
                <a:cubicBezTo>
                  <a:pt x="213757" y="317500"/>
                  <a:pt x="222250" y="325993"/>
                  <a:pt x="222250" y="336550"/>
                </a:cubicBezTo>
                <a:lnTo>
                  <a:pt x="222250" y="355600"/>
                </a:lnTo>
                <a:lnTo>
                  <a:pt x="292100" y="355600"/>
                </a:lnTo>
                <a:lnTo>
                  <a:pt x="292100" y="336550"/>
                </a:lnTo>
                <a:cubicBezTo>
                  <a:pt x="292100" y="325993"/>
                  <a:pt x="300593" y="317500"/>
                  <a:pt x="311150" y="317500"/>
                </a:cubicBezTo>
                <a:cubicBezTo>
                  <a:pt x="321707" y="317500"/>
                  <a:pt x="330200" y="325993"/>
                  <a:pt x="330200" y="336550"/>
                </a:cubicBezTo>
                <a:lnTo>
                  <a:pt x="330200" y="355600"/>
                </a:lnTo>
                <a:lnTo>
                  <a:pt x="381000" y="355600"/>
                </a:lnTo>
                <a:cubicBezTo>
                  <a:pt x="395049" y="355600"/>
                  <a:pt x="406400" y="344249"/>
                  <a:pt x="406400" y="330200"/>
                </a:cubicBezTo>
                <a:close/>
                <a:moveTo>
                  <a:pt x="127000" y="127000"/>
                </a:moveTo>
                <a:lnTo>
                  <a:pt x="127000" y="177800"/>
                </a:lnTo>
                <a:cubicBezTo>
                  <a:pt x="127000" y="191849"/>
                  <a:pt x="115649" y="203200"/>
                  <a:pt x="101600" y="203200"/>
                </a:cubicBezTo>
                <a:cubicBezTo>
                  <a:pt x="87551" y="203200"/>
                  <a:pt x="76200" y="191849"/>
                  <a:pt x="76200" y="177800"/>
                </a:cubicBezTo>
                <a:lnTo>
                  <a:pt x="76200" y="127000"/>
                </a:lnTo>
                <a:cubicBezTo>
                  <a:pt x="76200" y="112951"/>
                  <a:pt x="87551" y="101600"/>
                  <a:pt x="101600" y="101600"/>
                </a:cubicBezTo>
                <a:cubicBezTo>
                  <a:pt x="115649" y="101600"/>
                  <a:pt x="127000" y="112951"/>
                  <a:pt x="127000" y="127000"/>
                </a:cubicBezTo>
                <a:close/>
                <a:moveTo>
                  <a:pt x="228600" y="127000"/>
                </a:moveTo>
                <a:lnTo>
                  <a:pt x="228600" y="177800"/>
                </a:lnTo>
                <a:cubicBezTo>
                  <a:pt x="228600" y="191849"/>
                  <a:pt x="217249" y="203200"/>
                  <a:pt x="203200" y="203200"/>
                </a:cubicBezTo>
                <a:cubicBezTo>
                  <a:pt x="189151" y="203200"/>
                  <a:pt x="177800" y="191849"/>
                  <a:pt x="177800" y="177800"/>
                </a:cubicBezTo>
                <a:lnTo>
                  <a:pt x="177800" y="127000"/>
                </a:lnTo>
                <a:cubicBezTo>
                  <a:pt x="177800" y="112951"/>
                  <a:pt x="189151" y="101600"/>
                  <a:pt x="203200" y="101600"/>
                </a:cubicBezTo>
                <a:cubicBezTo>
                  <a:pt x="217249" y="101600"/>
                  <a:pt x="228600" y="112951"/>
                  <a:pt x="228600" y="127000"/>
                </a:cubicBezTo>
                <a:close/>
                <a:moveTo>
                  <a:pt x="330200" y="127000"/>
                </a:moveTo>
                <a:lnTo>
                  <a:pt x="330200" y="177800"/>
                </a:lnTo>
                <a:cubicBezTo>
                  <a:pt x="330200" y="191849"/>
                  <a:pt x="318849" y="203200"/>
                  <a:pt x="304800" y="203200"/>
                </a:cubicBezTo>
                <a:cubicBezTo>
                  <a:pt x="290751" y="203200"/>
                  <a:pt x="279400" y="191849"/>
                  <a:pt x="279400" y="177800"/>
                </a:cubicBezTo>
                <a:lnTo>
                  <a:pt x="279400" y="127000"/>
                </a:lnTo>
                <a:cubicBezTo>
                  <a:pt x="279400" y="112951"/>
                  <a:pt x="290751" y="101600"/>
                  <a:pt x="304800" y="101600"/>
                </a:cubicBezTo>
                <a:cubicBezTo>
                  <a:pt x="318849" y="101600"/>
                  <a:pt x="330200" y="112951"/>
                  <a:pt x="330200" y="127000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13" name="Text 10"/>
          <p:cNvSpPr/>
          <p:nvPr/>
        </p:nvSpPr>
        <p:spPr>
          <a:xfrm>
            <a:off x="11684000" y="25781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Snowpark-Optimized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112500" y="31115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memory per node. Designed for ML workloads, UDFs, and stored procedures.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1112500" y="4699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16" name="Text 13"/>
          <p:cNvSpPr/>
          <p:nvPr/>
        </p:nvSpPr>
        <p:spPr>
          <a:xfrm>
            <a:off x="11684000" y="4673600"/>
            <a:ext cx="342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Multi-Cluster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112500" y="5207000"/>
            <a:ext cx="406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adds or removes clusters based on concurrent user demand. Ideal for variable workloads.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Virtual Warehouses Work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4605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6B829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FLOW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93775" y="222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44450" y="44450"/>
                </a:moveTo>
                <a:cubicBezTo>
                  <a:pt x="19933" y="44450"/>
                  <a:pt x="0" y="64383"/>
                  <a:pt x="0" y="88900"/>
                </a:cubicBezTo>
                <a:lnTo>
                  <a:pt x="0" y="266700"/>
                </a:lnTo>
                <a:cubicBezTo>
                  <a:pt x="0" y="291217"/>
                  <a:pt x="19933" y="311150"/>
                  <a:pt x="44450" y="311150"/>
                </a:cubicBezTo>
                <a:lnTo>
                  <a:pt x="355600" y="311150"/>
                </a:lnTo>
                <a:cubicBezTo>
                  <a:pt x="380117" y="311150"/>
                  <a:pt x="400050" y="291217"/>
                  <a:pt x="400050" y="266700"/>
                </a:cubicBezTo>
                <a:lnTo>
                  <a:pt x="400050" y="88900"/>
                </a:lnTo>
                <a:cubicBezTo>
                  <a:pt x="400050" y="64383"/>
                  <a:pt x="380117" y="44450"/>
                  <a:pt x="355600" y="44450"/>
                </a:cubicBezTo>
                <a:lnTo>
                  <a:pt x="44450" y="44450"/>
                </a:lnTo>
                <a:close/>
                <a:moveTo>
                  <a:pt x="55563" y="88900"/>
                </a:moveTo>
                <a:lnTo>
                  <a:pt x="77788" y="88900"/>
                </a:lnTo>
                <a:cubicBezTo>
                  <a:pt x="83899" y="88900"/>
                  <a:pt x="88900" y="93901"/>
                  <a:pt x="88900" y="100013"/>
                </a:cubicBezTo>
                <a:lnTo>
                  <a:pt x="88900" y="122238"/>
                </a:lnTo>
                <a:cubicBezTo>
                  <a:pt x="88900" y="128349"/>
                  <a:pt x="83899" y="133350"/>
                  <a:pt x="77788" y="133350"/>
                </a:cubicBezTo>
                <a:lnTo>
                  <a:pt x="55563" y="133350"/>
                </a:lnTo>
                <a:cubicBezTo>
                  <a:pt x="49451" y="133350"/>
                  <a:pt x="44450" y="128349"/>
                  <a:pt x="44450" y="122238"/>
                </a:cubicBezTo>
                <a:lnTo>
                  <a:pt x="44450" y="100013"/>
                </a:lnTo>
                <a:cubicBezTo>
                  <a:pt x="44450" y="93901"/>
                  <a:pt x="49451" y="88900"/>
                  <a:pt x="55563" y="88900"/>
                </a:cubicBezTo>
                <a:close/>
                <a:moveTo>
                  <a:pt x="44450" y="166688"/>
                </a:moveTo>
                <a:cubicBezTo>
                  <a:pt x="44450" y="160576"/>
                  <a:pt x="49451" y="155575"/>
                  <a:pt x="55563" y="155575"/>
                </a:cubicBezTo>
                <a:lnTo>
                  <a:pt x="77788" y="155575"/>
                </a:lnTo>
                <a:cubicBezTo>
                  <a:pt x="83899" y="155575"/>
                  <a:pt x="88900" y="160576"/>
                  <a:pt x="88900" y="166688"/>
                </a:cubicBezTo>
                <a:lnTo>
                  <a:pt x="88900" y="188913"/>
                </a:lnTo>
                <a:cubicBezTo>
                  <a:pt x="88900" y="195024"/>
                  <a:pt x="83899" y="200025"/>
                  <a:pt x="77788" y="200025"/>
                </a:cubicBezTo>
                <a:lnTo>
                  <a:pt x="55563" y="200025"/>
                </a:lnTo>
                <a:cubicBezTo>
                  <a:pt x="49451" y="200025"/>
                  <a:pt x="44450" y="195024"/>
                  <a:pt x="44450" y="188913"/>
                </a:cubicBezTo>
                <a:lnTo>
                  <a:pt x="44450" y="166688"/>
                </a:lnTo>
                <a:close/>
                <a:moveTo>
                  <a:pt x="122238" y="88900"/>
                </a:moveTo>
                <a:lnTo>
                  <a:pt x="144463" y="88900"/>
                </a:lnTo>
                <a:cubicBezTo>
                  <a:pt x="150574" y="88900"/>
                  <a:pt x="155575" y="93901"/>
                  <a:pt x="155575" y="100013"/>
                </a:cubicBezTo>
                <a:lnTo>
                  <a:pt x="155575" y="122238"/>
                </a:lnTo>
                <a:cubicBezTo>
                  <a:pt x="155575" y="128349"/>
                  <a:pt x="150574" y="133350"/>
                  <a:pt x="144463" y="133350"/>
                </a:cubicBezTo>
                <a:lnTo>
                  <a:pt x="122238" y="133350"/>
                </a:lnTo>
                <a:cubicBezTo>
                  <a:pt x="116126" y="133350"/>
                  <a:pt x="111125" y="128349"/>
                  <a:pt x="111125" y="122238"/>
                </a:cubicBezTo>
                <a:lnTo>
                  <a:pt x="111125" y="100013"/>
                </a:lnTo>
                <a:cubicBezTo>
                  <a:pt x="111125" y="93901"/>
                  <a:pt x="116126" y="88900"/>
                  <a:pt x="122238" y="88900"/>
                </a:cubicBezTo>
                <a:close/>
                <a:moveTo>
                  <a:pt x="111125" y="166688"/>
                </a:moveTo>
                <a:cubicBezTo>
                  <a:pt x="111125" y="160576"/>
                  <a:pt x="116126" y="155575"/>
                  <a:pt x="122238" y="155575"/>
                </a:cubicBezTo>
                <a:lnTo>
                  <a:pt x="144463" y="155575"/>
                </a:lnTo>
                <a:cubicBezTo>
                  <a:pt x="150574" y="155575"/>
                  <a:pt x="155575" y="160576"/>
                  <a:pt x="155575" y="166688"/>
                </a:cubicBezTo>
                <a:lnTo>
                  <a:pt x="155575" y="188913"/>
                </a:lnTo>
                <a:cubicBezTo>
                  <a:pt x="155575" y="195024"/>
                  <a:pt x="150574" y="200025"/>
                  <a:pt x="144463" y="200025"/>
                </a:cubicBezTo>
                <a:lnTo>
                  <a:pt x="122238" y="200025"/>
                </a:lnTo>
                <a:cubicBezTo>
                  <a:pt x="116126" y="200025"/>
                  <a:pt x="111125" y="195024"/>
                  <a:pt x="111125" y="188913"/>
                </a:cubicBezTo>
                <a:lnTo>
                  <a:pt x="111125" y="166688"/>
                </a:lnTo>
                <a:close/>
                <a:moveTo>
                  <a:pt x="122238" y="222250"/>
                </a:moveTo>
                <a:lnTo>
                  <a:pt x="277813" y="222250"/>
                </a:lnTo>
                <a:cubicBezTo>
                  <a:pt x="283924" y="222250"/>
                  <a:pt x="288925" y="227251"/>
                  <a:pt x="288925" y="233363"/>
                </a:cubicBezTo>
                <a:lnTo>
                  <a:pt x="288925" y="255587"/>
                </a:lnTo>
                <a:cubicBezTo>
                  <a:pt x="288925" y="261699"/>
                  <a:pt x="283924" y="266700"/>
                  <a:pt x="277813" y="266700"/>
                </a:cubicBezTo>
                <a:lnTo>
                  <a:pt x="122238" y="266700"/>
                </a:lnTo>
                <a:cubicBezTo>
                  <a:pt x="116126" y="266700"/>
                  <a:pt x="111125" y="261699"/>
                  <a:pt x="111125" y="255587"/>
                </a:cubicBezTo>
                <a:lnTo>
                  <a:pt x="111125" y="233363"/>
                </a:lnTo>
                <a:cubicBezTo>
                  <a:pt x="111125" y="227251"/>
                  <a:pt x="116126" y="222250"/>
                  <a:pt x="122238" y="222250"/>
                </a:cubicBezTo>
                <a:close/>
                <a:moveTo>
                  <a:pt x="177800" y="100013"/>
                </a:moveTo>
                <a:cubicBezTo>
                  <a:pt x="177800" y="93901"/>
                  <a:pt x="182801" y="88900"/>
                  <a:pt x="188913" y="88900"/>
                </a:cubicBezTo>
                <a:lnTo>
                  <a:pt x="211138" y="88900"/>
                </a:lnTo>
                <a:cubicBezTo>
                  <a:pt x="217249" y="88900"/>
                  <a:pt x="222250" y="93901"/>
                  <a:pt x="222250" y="100013"/>
                </a:cubicBezTo>
                <a:lnTo>
                  <a:pt x="222250" y="122238"/>
                </a:lnTo>
                <a:cubicBezTo>
                  <a:pt x="222250" y="128349"/>
                  <a:pt x="217249" y="133350"/>
                  <a:pt x="211138" y="133350"/>
                </a:cubicBezTo>
                <a:lnTo>
                  <a:pt x="188913" y="133350"/>
                </a:lnTo>
                <a:cubicBezTo>
                  <a:pt x="182801" y="133350"/>
                  <a:pt x="177800" y="128349"/>
                  <a:pt x="177800" y="122238"/>
                </a:cubicBezTo>
                <a:lnTo>
                  <a:pt x="177800" y="100013"/>
                </a:lnTo>
                <a:close/>
                <a:moveTo>
                  <a:pt x="188913" y="155575"/>
                </a:moveTo>
                <a:lnTo>
                  <a:pt x="211138" y="155575"/>
                </a:lnTo>
                <a:cubicBezTo>
                  <a:pt x="217249" y="155575"/>
                  <a:pt x="222250" y="160576"/>
                  <a:pt x="222250" y="166688"/>
                </a:cubicBezTo>
                <a:lnTo>
                  <a:pt x="222250" y="188913"/>
                </a:lnTo>
                <a:cubicBezTo>
                  <a:pt x="222250" y="195024"/>
                  <a:pt x="217249" y="200025"/>
                  <a:pt x="211138" y="200025"/>
                </a:cubicBezTo>
                <a:lnTo>
                  <a:pt x="188913" y="200025"/>
                </a:lnTo>
                <a:cubicBezTo>
                  <a:pt x="182801" y="200025"/>
                  <a:pt x="177800" y="195024"/>
                  <a:pt x="177800" y="188913"/>
                </a:cubicBezTo>
                <a:lnTo>
                  <a:pt x="177800" y="166688"/>
                </a:lnTo>
                <a:cubicBezTo>
                  <a:pt x="177800" y="160576"/>
                  <a:pt x="182801" y="155575"/>
                  <a:pt x="188913" y="155575"/>
                </a:cubicBezTo>
                <a:close/>
                <a:moveTo>
                  <a:pt x="244475" y="100013"/>
                </a:moveTo>
                <a:cubicBezTo>
                  <a:pt x="244475" y="93901"/>
                  <a:pt x="249476" y="88900"/>
                  <a:pt x="255587" y="88900"/>
                </a:cubicBezTo>
                <a:lnTo>
                  <a:pt x="277813" y="88900"/>
                </a:lnTo>
                <a:cubicBezTo>
                  <a:pt x="283924" y="88900"/>
                  <a:pt x="288925" y="93901"/>
                  <a:pt x="288925" y="100013"/>
                </a:cubicBezTo>
                <a:lnTo>
                  <a:pt x="288925" y="122238"/>
                </a:lnTo>
                <a:cubicBezTo>
                  <a:pt x="288925" y="128349"/>
                  <a:pt x="283924" y="133350"/>
                  <a:pt x="277813" y="133350"/>
                </a:cubicBezTo>
                <a:lnTo>
                  <a:pt x="255587" y="133350"/>
                </a:lnTo>
                <a:cubicBezTo>
                  <a:pt x="249476" y="133350"/>
                  <a:pt x="244475" y="128349"/>
                  <a:pt x="244475" y="122238"/>
                </a:cubicBezTo>
                <a:lnTo>
                  <a:pt x="244475" y="100013"/>
                </a:lnTo>
                <a:close/>
                <a:moveTo>
                  <a:pt x="255587" y="155575"/>
                </a:moveTo>
                <a:lnTo>
                  <a:pt x="277813" y="155575"/>
                </a:lnTo>
                <a:cubicBezTo>
                  <a:pt x="283924" y="155575"/>
                  <a:pt x="288925" y="160576"/>
                  <a:pt x="288925" y="166688"/>
                </a:cubicBezTo>
                <a:lnTo>
                  <a:pt x="288925" y="188913"/>
                </a:lnTo>
                <a:cubicBezTo>
                  <a:pt x="288925" y="195024"/>
                  <a:pt x="283924" y="200025"/>
                  <a:pt x="277813" y="200025"/>
                </a:cubicBezTo>
                <a:lnTo>
                  <a:pt x="255587" y="200025"/>
                </a:lnTo>
                <a:cubicBezTo>
                  <a:pt x="249476" y="200025"/>
                  <a:pt x="244475" y="195024"/>
                  <a:pt x="244475" y="188913"/>
                </a:cubicBezTo>
                <a:lnTo>
                  <a:pt x="244475" y="166688"/>
                </a:lnTo>
                <a:cubicBezTo>
                  <a:pt x="244475" y="160576"/>
                  <a:pt x="249476" y="155575"/>
                  <a:pt x="255587" y="155575"/>
                </a:cubicBezTo>
                <a:close/>
                <a:moveTo>
                  <a:pt x="311150" y="100013"/>
                </a:moveTo>
                <a:cubicBezTo>
                  <a:pt x="311150" y="93901"/>
                  <a:pt x="316151" y="88900"/>
                  <a:pt x="322263" y="88900"/>
                </a:cubicBezTo>
                <a:lnTo>
                  <a:pt x="344488" y="88900"/>
                </a:lnTo>
                <a:cubicBezTo>
                  <a:pt x="350599" y="88900"/>
                  <a:pt x="355600" y="93901"/>
                  <a:pt x="355600" y="100013"/>
                </a:cubicBezTo>
                <a:lnTo>
                  <a:pt x="355600" y="122238"/>
                </a:lnTo>
                <a:cubicBezTo>
                  <a:pt x="355600" y="128349"/>
                  <a:pt x="350599" y="133350"/>
                  <a:pt x="344488" y="133350"/>
                </a:cubicBezTo>
                <a:lnTo>
                  <a:pt x="322263" y="133350"/>
                </a:lnTo>
                <a:cubicBezTo>
                  <a:pt x="316151" y="133350"/>
                  <a:pt x="311150" y="128349"/>
                  <a:pt x="311150" y="122238"/>
                </a:cubicBezTo>
                <a:lnTo>
                  <a:pt x="311150" y="100013"/>
                </a:lnTo>
                <a:close/>
                <a:moveTo>
                  <a:pt x="322263" y="155575"/>
                </a:moveTo>
                <a:lnTo>
                  <a:pt x="344488" y="155575"/>
                </a:lnTo>
                <a:cubicBezTo>
                  <a:pt x="350599" y="155575"/>
                  <a:pt x="355600" y="160576"/>
                  <a:pt x="355600" y="166688"/>
                </a:cubicBezTo>
                <a:lnTo>
                  <a:pt x="355600" y="188913"/>
                </a:lnTo>
                <a:cubicBezTo>
                  <a:pt x="355600" y="195024"/>
                  <a:pt x="350599" y="200025"/>
                  <a:pt x="344488" y="200025"/>
                </a:cubicBezTo>
                <a:lnTo>
                  <a:pt x="322263" y="200025"/>
                </a:lnTo>
                <a:cubicBezTo>
                  <a:pt x="316151" y="200025"/>
                  <a:pt x="311150" y="195024"/>
                  <a:pt x="311150" y="188913"/>
                </a:cubicBezTo>
                <a:lnTo>
                  <a:pt x="311150" y="166688"/>
                </a:lnTo>
                <a:cubicBezTo>
                  <a:pt x="311150" y="160576"/>
                  <a:pt x="316151" y="155575"/>
                  <a:pt x="322263" y="155575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095500"/>
            <a:ext cx="184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User submits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SQL query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56000" y="2413000"/>
            <a:ext cx="635000" cy="0"/>
          </a:xfrm>
          <a:prstGeom prst="straightConnector1">
            <a:avLst/>
          </a:prstGeom>
          <a:noFill/>
          <a:ln w="25400">
            <a:solidFill>
              <a:srgbClr val="29B2A6"/>
            </a:solidFill>
            <a:prstDash val="solid"/>
            <a:headEnd type="none"/>
            <a:tailEnd type="arrow"/>
          </a:ln>
        </p:spPr>
      </p:sp>
      <p:sp>
        <p:nvSpPr>
          <p:cNvPr id="9" name="Shape 7"/>
          <p:cNvSpPr/>
          <p:nvPr/>
        </p:nvSpPr>
        <p:spPr>
          <a:xfrm>
            <a:off x="4191000" y="19685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E8EFF8"/>
          </a:solidFill>
          <a:ln w="25400">
            <a:solidFill>
              <a:srgbClr val="1B4D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22775" y="222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0" y="233363"/>
                </a:moveTo>
                <a:cubicBezTo>
                  <a:pt x="0" y="288578"/>
                  <a:pt x="44797" y="333375"/>
                  <a:pt x="100013" y="333375"/>
                </a:cubicBezTo>
                <a:lnTo>
                  <a:pt x="311150" y="333375"/>
                </a:lnTo>
                <a:cubicBezTo>
                  <a:pt x="360253" y="333375"/>
                  <a:pt x="400050" y="293578"/>
                  <a:pt x="400050" y="244475"/>
                </a:cubicBezTo>
                <a:cubicBezTo>
                  <a:pt x="400050" y="208637"/>
                  <a:pt x="378867" y="177731"/>
                  <a:pt x="348307" y="163701"/>
                </a:cubicBezTo>
                <a:cubicBezTo>
                  <a:pt x="352961" y="154603"/>
                  <a:pt x="355600" y="144254"/>
                  <a:pt x="355600" y="133350"/>
                </a:cubicBezTo>
                <a:cubicBezTo>
                  <a:pt x="355600" y="96540"/>
                  <a:pt x="325735" y="66675"/>
                  <a:pt x="288925" y="66675"/>
                </a:cubicBezTo>
                <a:cubicBezTo>
                  <a:pt x="276632" y="66675"/>
                  <a:pt x="265172" y="70009"/>
                  <a:pt x="255310" y="75773"/>
                </a:cubicBezTo>
                <a:cubicBezTo>
                  <a:pt x="238571" y="43964"/>
                  <a:pt x="205165" y="22225"/>
                  <a:pt x="166688" y="22225"/>
                </a:cubicBezTo>
                <a:cubicBezTo>
                  <a:pt x="111472" y="22225"/>
                  <a:pt x="66675" y="67022"/>
                  <a:pt x="66675" y="122238"/>
                </a:cubicBezTo>
                <a:cubicBezTo>
                  <a:pt x="66675" y="127794"/>
                  <a:pt x="67161" y="133281"/>
                  <a:pt x="67995" y="138559"/>
                </a:cubicBezTo>
                <a:cubicBezTo>
                  <a:pt x="28476" y="151894"/>
                  <a:pt x="0" y="189329"/>
                  <a:pt x="0" y="233363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11" name="Text 9"/>
          <p:cNvSpPr/>
          <p:nvPr/>
        </p:nvSpPr>
        <p:spPr>
          <a:xfrm>
            <a:off x="4927600" y="2095500"/>
            <a:ext cx="184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Services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parses &amp; optimizes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985000" y="2413000"/>
            <a:ext cx="635000" cy="0"/>
          </a:xfrm>
          <a:prstGeom prst="straightConnector1">
            <a:avLst/>
          </a:prstGeom>
          <a:noFill/>
          <a:ln w="25400">
            <a:solidFill>
              <a:srgbClr val="29B2A6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7620000" y="19685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1B4D8C"/>
          </a:solidFill>
          <a:ln/>
        </p:spPr>
      </p:sp>
      <p:sp>
        <p:nvSpPr>
          <p:cNvPr id="14" name="Shape 12"/>
          <p:cNvSpPr/>
          <p:nvPr/>
        </p:nvSpPr>
        <p:spPr>
          <a:xfrm>
            <a:off x="7896225" y="222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111125"/>
                </a:lnTo>
                <a:cubicBezTo>
                  <a:pt x="0" y="135642"/>
                  <a:pt x="19933" y="155575"/>
                  <a:pt x="44450" y="155575"/>
                </a:cubicBezTo>
                <a:lnTo>
                  <a:pt x="266700" y="155575"/>
                </a:lnTo>
                <a:cubicBezTo>
                  <a:pt x="291217" y="155575"/>
                  <a:pt x="311150" y="135642"/>
                  <a:pt x="311150" y="1111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  <a:moveTo>
                  <a:pt x="194469" y="72231"/>
                </a:moveTo>
                <a:cubicBezTo>
                  <a:pt x="203668" y="72231"/>
                  <a:pt x="211138" y="79700"/>
                  <a:pt x="211138" y="88900"/>
                </a:cubicBezTo>
                <a:cubicBezTo>
                  <a:pt x="211138" y="98100"/>
                  <a:pt x="203668" y="105569"/>
                  <a:pt x="194469" y="105569"/>
                </a:cubicBezTo>
                <a:cubicBezTo>
                  <a:pt x="185269" y="105569"/>
                  <a:pt x="177800" y="98100"/>
                  <a:pt x="177800" y="88900"/>
                </a:cubicBezTo>
                <a:cubicBezTo>
                  <a:pt x="177800" y="79700"/>
                  <a:pt x="185269" y="72231"/>
                  <a:pt x="194469" y="72231"/>
                </a:cubicBezTo>
                <a:close/>
                <a:moveTo>
                  <a:pt x="233363" y="88900"/>
                </a:moveTo>
                <a:cubicBezTo>
                  <a:pt x="233363" y="79700"/>
                  <a:pt x="240832" y="72231"/>
                  <a:pt x="250031" y="72231"/>
                </a:cubicBezTo>
                <a:cubicBezTo>
                  <a:pt x="259231" y="72231"/>
                  <a:pt x="266700" y="79700"/>
                  <a:pt x="266700" y="88900"/>
                </a:cubicBezTo>
                <a:cubicBezTo>
                  <a:pt x="266700" y="98100"/>
                  <a:pt x="259231" y="105569"/>
                  <a:pt x="250031" y="105569"/>
                </a:cubicBezTo>
                <a:cubicBezTo>
                  <a:pt x="240832" y="105569"/>
                  <a:pt x="233363" y="98100"/>
                  <a:pt x="233363" y="88900"/>
                </a:cubicBezTo>
                <a:close/>
                <a:moveTo>
                  <a:pt x="44450" y="200025"/>
                </a:moveTo>
                <a:cubicBezTo>
                  <a:pt x="19933" y="200025"/>
                  <a:pt x="0" y="219958"/>
                  <a:pt x="0" y="2444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244475"/>
                </a:lnTo>
                <a:cubicBezTo>
                  <a:pt x="311150" y="219958"/>
                  <a:pt x="291217" y="200025"/>
                  <a:pt x="266700" y="200025"/>
                </a:cubicBezTo>
                <a:lnTo>
                  <a:pt x="44450" y="200025"/>
                </a:lnTo>
                <a:close/>
                <a:moveTo>
                  <a:pt x="194469" y="250031"/>
                </a:moveTo>
                <a:cubicBezTo>
                  <a:pt x="203668" y="250031"/>
                  <a:pt x="211138" y="257500"/>
                  <a:pt x="211138" y="266700"/>
                </a:cubicBezTo>
                <a:cubicBezTo>
                  <a:pt x="211138" y="275900"/>
                  <a:pt x="203668" y="283369"/>
                  <a:pt x="194469" y="283369"/>
                </a:cubicBezTo>
                <a:cubicBezTo>
                  <a:pt x="185269" y="283369"/>
                  <a:pt x="177800" y="275900"/>
                  <a:pt x="177800" y="266700"/>
                </a:cubicBezTo>
                <a:cubicBezTo>
                  <a:pt x="177800" y="257500"/>
                  <a:pt x="185269" y="250031"/>
                  <a:pt x="194469" y="250031"/>
                </a:cubicBezTo>
                <a:close/>
                <a:moveTo>
                  <a:pt x="233363" y="266700"/>
                </a:moveTo>
                <a:cubicBezTo>
                  <a:pt x="233363" y="257500"/>
                  <a:pt x="240832" y="250031"/>
                  <a:pt x="250031" y="250031"/>
                </a:cubicBezTo>
                <a:cubicBezTo>
                  <a:pt x="259231" y="250031"/>
                  <a:pt x="266700" y="257500"/>
                  <a:pt x="266700" y="266700"/>
                </a:cubicBezTo>
                <a:cubicBezTo>
                  <a:pt x="266700" y="275900"/>
                  <a:pt x="259231" y="283369"/>
                  <a:pt x="250031" y="283369"/>
                </a:cubicBezTo>
                <a:cubicBezTo>
                  <a:pt x="240832" y="283369"/>
                  <a:pt x="233363" y="275900"/>
                  <a:pt x="233363" y="2667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8356600" y="2095500"/>
            <a:ext cx="184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VW executes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query in parallel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14000" y="2413000"/>
            <a:ext cx="635000" cy="0"/>
          </a:xfrm>
          <a:prstGeom prst="straightConnector1">
            <a:avLst/>
          </a:prstGeom>
          <a:noFill/>
          <a:ln w="25400">
            <a:solidFill>
              <a:srgbClr val="29B2A6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11049000" y="1968500"/>
            <a:ext cx="2794000" cy="101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8DE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303000" y="222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19" name="Text 17"/>
          <p:cNvSpPr/>
          <p:nvPr/>
        </p:nvSpPr>
        <p:spPr>
          <a:xfrm>
            <a:off x="11785600" y="2095500"/>
            <a:ext cx="1841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returned to user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492500"/>
            <a:ext cx="14732000" cy="469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2332">
                <a:alpha val="3922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43000" y="3746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 Under the Hood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43000" y="4165600"/>
            <a:ext cx="635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4445000"/>
            <a:ext cx="660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Query is broken into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micro-partitions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partition is processed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 parallel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Warehouse gets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dedicated resources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cache avoids re-running identical queries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382000" y="4445000"/>
            <a:ext cx="6604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Cloud Services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handles planning (always on)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Warehouse only runs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execution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Metadata cache speeds up repeated queries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Compute scales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independently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data size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Scaling Explained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7048500" cy="67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2332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905000"/>
            <a:ext cx="2286000" cy="355600"/>
          </a:xfrm>
          <a:prstGeom prst="roundRect">
            <a:avLst>
              <a:gd name="adj" fmla="val 12000"/>
            </a:avLst>
          </a:prstGeom>
          <a:solidFill>
            <a:srgbClr val="1B4D8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905000"/>
            <a:ext cx="228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VERTICAL SCALING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476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Resize — Bigger Engine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795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31750"/>
                </a:moveTo>
                <a:cubicBezTo>
                  <a:pt x="77688" y="31750"/>
                  <a:pt x="63500" y="45938"/>
                  <a:pt x="63500" y="63500"/>
                </a:cubicBezTo>
                <a:cubicBezTo>
                  <a:pt x="63500" y="81062"/>
                  <a:pt x="77688" y="95250"/>
                  <a:pt x="95250" y="95250"/>
                </a:cubicBezTo>
                <a:lnTo>
                  <a:pt x="113804" y="95250"/>
                </a:lnTo>
                <a:lnTo>
                  <a:pt x="9327" y="199827"/>
                </a:lnTo>
                <a:cubicBezTo>
                  <a:pt x="-3076" y="212229"/>
                  <a:pt x="-3076" y="232370"/>
                  <a:pt x="9327" y="244773"/>
                </a:cubicBezTo>
                <a:cubicBezTo>
                  <a:pt x="21729" y="257175"/>
                  <a:pt x="41870" y="257175"/>
                  <a:pt x="54273" y="244773"/>
                </a:cubicBezTo>
                <a:lnTo>
                  <a:pt x="158750" y="140196"/>
                </a:lnTo>
                <a:lnTo>
                  <a:pt x="158750" y="158750"/>
                </a:lnTo>
                <a:cubicBezTo>
                  <a:pt x="158750" y="176312"/>
                  <a:pt x="172938" y="190500"/>
                  <a:pt x="190500" y="190500"/>
                </a:cubicBezTo>
                <a:cubicBezTo>
                  <a:pt x="208062" y="190500"/>
                  <a:pt x="222250" y="176312"/>
                  <a:pt x="222250" y="158750"/>
                </a:cubicBezTo>
                <a:lnTo>
                  <a:pt x="222250" y="63500"/>
                </a:lnTo>
                <a:cubicBezTo>
                  <a:pt x="222250" y="45938"/>
                  <a:pt x="208062" y="31750"/>
                  <a:pt x="190500" y="31750"/>
                </a:cubicBezTo>
                <a:lnTo>
                  <a:pt x="95250" y="31750"/>
                </a:lnTo>
                <a:close/>
                <a:moveTo>
                  <a:pt x="400645" y="69552"/>
                </a:moveTo>
                <a:cubicBezTo>
                  <a:pt x="400645" y="83058"/>
                  <a:pt x="407850" y="95537"/>
                  <a:pt x="419546" y="102290"/>
                </a:cubicBezTo>
                <a:cubicBezTo>
                  <a:pt x="431243" y="109043"/>
                  <a:pt x="445653" y="109043"/>
                  <a:pt x="457349" y="102290"/>
                </a:cubicBezTo>
                <a:cubicBezTo>
                  <a:pt x="469045" y="95537"/>
                  <a:pt x="476250" y="83058"/>
                  <a:pt x="476250" y="69552"/>
                </a:cubicBezTo>
                <a:cubicBezTo>
                  <a:pt x="476250" y="56047"/>
                  <a:pt x="469045" y="43567"/>
                  <a:pt x="457349" y="36815"/>
                </a:cubicBezTo>
                <a:cubicBezTo>
                  <a:pt x="445653" y="30062"/>
                  <a:pt x="431243" y="30062"/>
                  <a:pt x="419546" y="36815"/>
                </a:cubicBezTo>
                <a:cubicBezTo>
                  <a:pt x="407850" y="43567"/>
                  <a:pt x="400645" y="56047"/>
                  <a:pt x="400645" y="69552"/>
                </a:cubicBezTo>
                <a:close/>
                <a:moveTo>
                  <a:pt x="277515" y="192683"/>
                </a:moveTo>
                <a:cubicBezTo>
                  <a:pt x="277515" y="206188"/>
                  <a:pt x="284720" y="218668"/>
                  <a:pt x="296416" y="225421"/>
                </a:cubicBezTo>
                <a:cubicBezTo>
                  <a:pt x="308112" y="232173"/>
                  <a:pt x="322522" y="232173"/>
                  <a:pt x="334218" y="225421"/>
                </a:cubicBezTo>
                <a:cubicBezTo>
                  <a:pt x="345914" y="218668"/>
                  <a:pt x="353120" y="206188"/>
                  <a:pt x="353120" y="192683"/>
                </a:cubicBezTo>
                <a:cubicBezTo>
                  <a:pt x="353120" y="179177"/>
                  <a:pt x="345914" y="166698"/>
                  <a:pt x="334218" y="159945"/>
                </a:cubicBezTo>
                <a:cubicBezTo>
                  <a:pt x="322522" y="153192"/>
                  <a:pt x="308112" y="153192"/>
                  <a:pt x="296416" y="159945"/>
                </a:cubicBezTo>
                <a:cubicBezTo>
                  <a:pt x="284720" y="166698"/>
                  <a:pt x="277515" y="179177"/>
                  <a:pt x="277515" y="192683"/>
                </a:cubicBezTo>
                <a:close/>
                <a:moveTo>
                  <a:pt x="438448" y="154880"/>
                </a:moveTo>
                <a:cubicBezTo>
                  <a:pt x="417584" y="154880"/>
                  <a:pt x="400645" y="171819"/>
                  <a:pt x="400645" y="192683"/>
                </a:cubicBezTo>
                <a:cubicBezTo>
                  <a:pt x="400645" y="213546"/>
                  <a:pt x="417584" y="230485"/>
                  <a:pt x="438448" y="230485"/>
                </a:cubicBezTo>
                <a:cubicBezTo>
                  <a:pt x="451953" y="230485"/>
                  <a:pt x="464433" y="223280"/>
                  <a:pt x="471185" y="211584"/>
                </a:cubicBezTo>
                <a:cubicBezTo>
                  <a:pt x="477938" y="199888"/>
                  <a:pt x="477938" y="185478"/>
                  <a:pt x="471185" y="173782"/>
                </a:cubicBezTo>
                <a:cubicBezTo>
                  <a:pt x="464433" y="162086"/>
                  <a:pt x="451953" y="154880"/>
                  <a:pt x="438448" y="154880"/>
                </a:cubicBezTo>
                <a:close/>
                <a:moveTo>
                  <a:pt x="154980" y="315317"/>
                </a:moveTo>
                <a:cubicBezTo>
                  <a:pt x="154980" y="328823"/>
                  <a:pt x="162185" y="341302"/>
                  <a:pt x="173881" y="348055"/>
                </a:cubicBezTo>
                <a:cubicBezTo>
                  <a:pt x="185577" y="354808"/>
                  <a:pt x="199987" y="354808"/>
                  <a:pt x="211683" y="348055"/>
                </a:cubicBezTo>
                <a:cubicBezTo>
                  <a:pt x="223379" y="341302"/>
                  <a:pt x="230584" y="328823"/>
                  <a:pt x="230584" y="315317"/>
                </a:cubicBezTo>
                <a:cubicBezTo>
                  <a:pt x="230584" y="301812"/>
                  <a:pt x="223379" y="289332"/>
                  <a:pt x="211683" y="282579"/>
                </a:cubicBezTo>
                <a:cubicBezTo>
                  <a:pt x="199987" y="275827"/>
                  <a:pt x="185577" y="275827"/>
                  <a:pt x="173881" y="282579"/>
                </a:cubicBezTo>
                <a:cubicBezTo>
                  <a:pt x="162185" y="289332"/>
                  <a:pt x="154980" y="301812"/>
                  <a:pt x="154980" y="315317"/>
                </a:cubicBezTo>
                <a:close/>
                <a:moveTo>
                  <a:pt x="315317" y="277515"/>
                </a:moveTo>
                <a:cubicBezTo>
                  <a:pt x="301812" y="277515"/>
                  <a:pt x="289332" y="284720"/>
                  <a:pt x="282579" y="296416"/>
                </a:cubicBezTo>
                <a:cubicBezTo>
                  <a:pt x="275827" y="308112"/>
                  <a:pt x="275827" y="322522"/>
                  <a:pt x="282579" y="334218"/>
                </a:cubicBezTo>
                <a:cubicBezTo>
                  <a:pt x="289332" y="345914"/>
                  <a:pt x="301812" y="353120"/>
                  <a:pt x="315317" y="353120"/>
                </a:cubicBezTo>
                <a:cubicBezTo>
                  <a:pt x="328823" y="353120"/>
                  <a:pt x="341302" y="345914"/>
                  <a:pt x="348055" y="334218"/>
                </a:cubicBezTo>
                <a:cubicBezTo>
                  <a:pt x="354808" y="322522"/>
                  <a:pt x="354808" y="308112"/>
                  <a:pt x="348055" y="296416"/>
                </a:cubicBezTo>
                <a:cubicBezTo>
                  <a:pt x="341302" y="284720"/>
                  <a:pt x="328823" y="277515"/>
                  <a:pt x="315317" y="277515"/>
                </a:cubicBezTo>
                <a:close/>
                <a:moveTo>
                  <a:pt x="400745" y="315317"/>
                </a:moveTo>
                <a:cubicBezTo>
                  <a:pt x="400745" y="328823"/>
                  <a:pt x="407950" y="341302"/>
                  <a:pt x="419646" y="348055"/>
                </a:cubicBezTo>
                <a:cubicBezTo>
                  <a:pt x="431342" y="354808"/>
                  <a:pt x="445752" y="354808"/>
                  <a:pt x="457448" y="348055"/>
                </a:cubicBezTo>
                <a:cubicBezTo>
                  <a:pt x="469144" y="341302"/>
                  <a:pt x="476349" y="328823"/>
                  <a:pt x="476349" y="315317"/>
                </a:cubicBezTo>
                <a:cubicBezTo>
                  <a:pt x="476349" y="294454"/>
                  <a:pt x="459411" y="277515"/>
                  <a:pt x="438547" y="277515"/>
                </a:cubicBezTo>
                <a:cubicBezTo>
                  <a:pt x="417683" y="277515"/>
                  <a:pt x="400745" y="294454"/>
                  <a:pt x="400745" y="315317"/>
                </a:cubicBezTo>
                <a:close/>
                <a:moveTo>
                  <a:pt x="69552" y="400645"/>
                </a:moveTo>
                <a:cubicBezTo>
                  <a:pt x="56047" y="400645"/>
                  <a:pt x="43567" y="407850"/>
                  <a:pt x="36815" y="419546"/>
                </a:cubicBezTo>
                <a:cubicBezTo>
                  <a:pt x="30062" y="431243"/>
                  <a:pt x="30062" y="445653"/>
                  <a:pt x="36815" y="457349"/>
                </a:cubicBezTo>
                <a:cubicBezTo>
                  <a:pt x="43567" y="469045"/>
                  <a:pt x="56047" y="476250"/>
                  <a:pt x="69552" y="476250"/>
                </a:cubicBezTo>
                <a:cubicBezTo>
                  <a:pt x="83058" y="476250"/>
                  <a:pt x="95537" y="469045"/>
                  <a:pt x="102290" y="457349"/>
                </a:cubicBezTo>
                <a:cubicBezTo>
                  <a:pt x="109043" y="445653"/>
                  <a:pt x="109043" y="431243"/>
                  <a:pt x="102290" y="419546"/>
                </a:cubicBezTo>
                <a:cubicBezTo>
                  <a:pt x="95537" y="407850"/>
                  <a:pt x="83058" y="400645"/>
                  <a:pt x="69552" y="400645"/>
                </a:cubicBezTo>
                <a:close/>
                <a:moveTo>
                  <a:pt x="154980" y="438448"/>
                </a:moveTo>
                <a:cubicBezTo>
                  <a:pt x="154980" y="451953"/>
                  <a:pt x="162185" y="464433"/>
                  <a:pt x="173881" y="471185"/>
                </a:cubicBezTo>
                <a:cubicBezTo>
                  <a:pt x="185577" y="477938"/>
                  <a:pt x="199987" y="477938"/>
                  <a:pt x="211683" y="471185"/>
                </a:cubicBezTo>
                <a:cubicBezTo>
                  <a:pt x="223379" y="464433"/>
                  <a:pt x="230584" y="451953"/>
                  <a:pt x="230584" y="438448"/>
                </a:cubicBezTo>
                <a:cubicBezTo>
                  <a:pt x="230584" y="424942"/>
                  <a:pt x="223379" y="412463"/>
                  <a:pt x="211683" y="405710"/>
                </a:cubicBezTo>
                <a:cubicBezTo>
                  <a:pt x="199987" y="398957"/>
                  <a:pt x="185577" y="398957"/>
                  <a:pt x="173881" y="405710"/>
                </a:cubicBezTo>
                <a:cubicBezTo>
                  <a:pt x="162185" y="412463"/>
                  <a:pt x="154980" y="424942"/>
                  <a:pt x="154980" y="438448"/>
                </a:cubicBezTo>
                <a:close/>
                <a:moveTo>
                  <a:pt x="315317" y="400645"/>
                </a:moveTo>
                <a:cubicBezTo>
                  <a:pt x="301812" y="400645"/>
                  <a:pt x="289332" y="407850"/>
                  <a:pt x="282579" y="419546"/>
                </a:cubicBezTo>
                <a:cubicBezTo>
                  <a:pt x="275827" y="431243"/>
                  <a:pt x="275827" y="445653"/>
                  <a:pt x="282579" y="457349"/>
                </a:cubicBezTo>
                <a:cubicBezTo>
                  <a:pt x="289332" y="469045"/>
                  <a:pt x="301812" y="476250"/>
                  <a:pt x="315317" y="476250"/>
                </a:cubicBezTo>
                <a:cubicBezTo>
                  <a:pt x="328823" y="476250"/>
                  <a:pt x="341302" y="469045"/>
                  <a:pt x="348055" y="457349"/>
                </a:cubicBezTo>
                <a:cubicBezTo>
                  <a:pt x="354808" y="445653"/>
                  <a:pt x="354808" y="431243"/>
                  <a:pt x="348055" y="419546"/>
                </a:cubicBezTo>
                <a:cubicBezTo>
                  <a:pt x="341302" y="407850"/>
                  <a:pt x="328823" y="400645"/>
                  <a:pt x="315317" y="400645"/>
                </a:cubicBezTo>
                <a:close/>
                <a:moveTo>
                  <a:pt x="400745" y="438448"/>
                </a:moveTo>
                <a:cubicBezTo>
                  <a:pt x="400745" y="451953"/>
                  <a:pt x="407950" y="464433"/>
                  <a:pt x="419646" y="471185"/>
                </a:cubicBezTo>
                <a:cubicBezTo>
                  <a:pt x="431342" y="477938"/>
                  <a:pt x="445752" y="477938"/>
                  <a:pt x="457448" y="471185"/>
                </a:cubicBezTo>
                <a:cubicBezTo>
                  <a:pt x="469144" y="464433"/>
                  <a:pt x="476349" y="451953"/>
                  <a:pt x="476349" y="438448"/>
                </a:cubicBezTo>
                <a:cubicBezTo>
                  <a:pt x="476349" y="417584"/>
                  <a:pt x="459411" y="400645"/>
                  <a:pt x="438547" y="400645"/>
                </a:cubicBezTo>
                <a:cubicBezTo>
                  <a:pt x="417683" y="400645"/>
                  <a:pt x="400745" y="417584"/>
                  <a:pt x="400745" y="438448"/>
                </a:cubicBezTo>
                <a:close/>
              </a:path>
            </a:pathLst>
          </a:custGeom>
          <a:solidFill>
            <a:srgbClr val="1B4D8C"/>
          </a:solidFill>
          <a:ln/>
        </p:spPr>
      </p:sp>
      <p:sp>
        <p:nvSpPr>
          <p:cNvPr id="9" name="Text 7"/>
          <p:cNvSpPr/>
          <p:nvPr/>
        </p:nvSpPr>
        <p:spPr>
          <a:xfrm>
            <a:off x="1778000" y="3111500"/>
            <a:ext cx="5651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Change warehouse size from XS to XL for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more power per query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9500" y="4000500"/>
            <a:ext cx="6350000" cy="12700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11" name="Text 9"/>
          <p:cNvSpPr/>
          <p:nvPr/>
        </p:nvSpPr>
        <p:spPr>
          <a:xfrm>
            <a:off x="1079500" y="425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79500" y="4635500"/>
            <a:ext cx="635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One complex query needs more CPU and memory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79500" y="5651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79500" y="5969000"/>
            <a:ext cx="635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Simple — one setting change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Instant — no data movement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" y="7112000"/>
            <a:ext cx="6350000" cy="444500"/>
          </a:xfrm>
          <a:prstGeom prst="roundRect">
            <a:avLst>
              <a:gd name="adj" fmla="val 10000"/>
            </a:avLst>
          </a:prstGeom>
          <a:solidFill>
            <a:srgbClr val="E8EFF8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7112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1B4D8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Upgrading from a 4-cylinder to a V8 engine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445500" y="1587500"/>
            <a:ext cx="7048500" cy="673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2332">
                <a:alpha val="3922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763000" y="1905000"/>
            <a:ext cx="2540000" cy="355600"/>
          </a:xfrm>
          <a:prstGeom prst="roundRect">
            <a:avLst>
              <a:gd name="adj" fmla="val 12000"/>
            </a:avLst>
          </a:prstGeom>
          <a:solidFill>
            <a:srgbClr val="29B2A6"/>
          </a:solidFill>
          <a:ln/>
        </p:spPr>
      </p:sp>
      <p:sp>
        <p:nvSpPr>
          <p:cNvPr id="19" name="Text 17"/>
          <p:cNvSpPr/>
          <p:nvPr/>
        </p:nvSpPr>
        <p:spPr>
          <a:xfrm>
            <a:off x="8763000" y="1905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HORIZONTAL SCALING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763000" y="24765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Multi-Cluster — More Cars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763000" y="3175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230684" y="5159"/>
                </a:moveTo>
                <a:cubicBezTo>
                  <a:pt x="245467" y="-1687"/>
                  <a:pt x="262533" y="-1687"/>
                  <a:pt x="277316" y="5159"/>
                </a:cubicBezTo>
                <a:lnTo>
                  <a:pt x="494209" y="105370"/>
                </a:lnTo>
                <a:cubicBezTo>
                  <a:pt x="502642" y="109240"/>
                  <a:pt x="508000" y="117673"/>
                  <a:pt x="508000" y="127000"/>
                </a:cubicBezTo>
                <a:cubicBezTo>
                  <a:pt x="508000" y="136327"/>
                  <a:pt x="502642" y="144760"/>
                  <a:pt x="494209" y="148630"/>
                </a:cubicBezTo>
                <a:lnTo>
                  <a:pt x="277316" y="248841"/>
                </a:lnTo>
                <a:cubicBezTo>
                  <a:pt x="262533" y="255687"/>
                  <a:pt x="245467" y="255687"/>
                  <a:pt x="230684" y="248841"/>
                </a:cubicBezTo>
                <a:lnTo>
                  <a:pt x="13791" y="148630"/>
                </a:lnTo>
                <a:cubicBezTo>
                  <a:pt x="5358" y="144661"/>
                  <a:pt x="0" y="136227"/>
                  <a:pt x="0" y="127000"/>
                </a:cubicBezTo>
                <a:cubicBezTo>
                  <a:pt x="0" y="117773"/>
                  <a:pt x="5358" y="109240"/>
                  <a:pt x="13791" y="105370"/>
                </a:cubicBezTo>
                <a:lnTo>
                  <a:pt x="230684" y="5159"/>
                </a:lnTo>
                <a:close/>
                <a:moveTo>
                  <a:pt x="47724" y="216694"/>
                </a:moveTo>
                <a:lnTo>
                  <a:pt x="210741" y="292001"/>
                </a:lnTo>
                <a:cubicBezTo>
                  <a:pt x="238224" y="304701"/>
                  <a:pt x="269875" y="304701"/>
                  <a:pt x="297359" y="292001"/>
                </a:cubicBezTo>
                <a:lnTo>
                  <a:pt x="460375" y="216694"/>
                </a:lnTo>
                <a:lnTo>
                  <a:pt x="494209" y="232370"/>
                </a:lnTo>
                <a:cubicBezTo>
                  <a:pt x="502642" y="236240"/>
                  <a:pt x="508000" y="244673"/>
                  <a:pt x="508000" y="254000"/>
                </a:cubicBezTo>
                <a:cubicBezTo>
                  <a:pt x="508000" y="263327"/>
                  <a:pt x="502642" y="271760"/>
                  <a:pt x="494209" y="275630"/>
                </a:cubicBezTo>
                <a:lnTo>
                  <a:pt x="277316" y="375841"/>
                </a:lnTo>
                <a:cubicBezTo>
                  <a:pt x="262533" y="382687"/>
                  <a:pt x="245467" y="382687"/>
                  <a:pt x="230684" y="375841"/>
                </a:cubicBezTo>
                <a:lnTo>
                  <a:pt x="13791" y="275630"/>
                </a:lnTo>
                <a:cubicBezTo>
                  <a:pt x="5358" y="271661"/>
                  <a:pt x="0" y="263227"/>
                  <a:pt x="0" y="254000"/>
                </a:cubicBezTo>
                <a:cubicBezTo>
                  <a:pt x="0" y="244773"/>
                  <a:pt x="5358" y="236240"/>
                  <a:pt x="13791" y="232370"/>
                </a:cubicBezTo>
                <a:lnTo>
                  <a:pt x="47625" y="216694"/>
                </a:lnTo>
                <a:close/>
                <a:moveTo>
                  <a:pt x="13791" y="359370"/>
                </a:moveTo>
                <a:lnTo>
                  <a:pt x="47625" y="343694"/>
                </a:lnTo>
                <a:lnTo>
                  <a:pt x="210641" y="419001"/>
                </a:lnTo>
                <a:cubicBezTo>
                  <a:pt x="238125" y="431701"/>
                  <a:pt x="269776" y="431701"/>
                  <a:pt x="297259" y="419001"/>
                </a:cubicBezTo>
                <a:lnTo>
                  <a:pt x="460276" y="343694"/>
                </a:lnTo>
                <a:lnTo>
                  <a:pt x="494109" y="359370"/>
                </a:lnTo>
                <a:cubicBezTo>
                  <a:pt x="502543" y="363240"/>
                  <a:pt x="507901" y="371673"/>
                  <a:pt x="507901" y="381000"/>
                </a:cubicBezTo>
                <a:cubicBezTo>
                  <a:pt x="507901" y="390327"/>
                  <a:pt x="502543" y="398760"/>
                  <a:pt x="494109" y="402630"/>
                </a:cubicBezTo>
                <a:lnTo>
                  <a:pt x="277217" y="502841"/>
                </a:lnTo>
                <a:cubicBezTo>
                  <a:pt x="262434" y="509687"/>
                  <a:pt x="245368" y="509687"/>
                  <a:pt x="230584" y="502841"/>
                </a:cubicBezTo>
                <a:lnTo>
                  <a:pt x="13791" y="402630"/>
                </a:lnTo>
                <a:cubicBezTo>
                  <a:pt x="5358" y="398661"/>
                  <a:pt x="0" y="390227"/>
                  <a:pt x="0" y="381000"/>
                </a:cubicBezTo>
                <a:cubicBezTo>
                  <a:pt x="0" y="371773"/>
                  <a:pt x="5358" y="363240"/>
                  <a:pt x="13791" y="359370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22" name="Text 20"/>
          <p:cNvSpPr/>
          <p:nvPr/>
        </p:nvSpPr>
        <p:spPr>
          <a:xfrm>
            <a:off x="9461500" y="3111500"/>
            <a:ext cx="56515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 more warehouses of same size to handle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concurrent users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63000" y="4000500"/>
            <a:ext cx="6350000" cy="12700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24" name="Text 22"/>
          <p:cNvSpPr/>
          <p:nvPr/>
        </p:nvSpPr>
        <p:spPr>
          <a:xfrm>
            <a:off x="8763000" y="425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CASE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63000" y="4635500"/>
            <a:ext cx="635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Many analysts running dashboards simultaneously at 9 AM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63000" y="546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763000" y="5842000"/>
            <a:ext cx="635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Handles concurrency spikes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Auto-scales with user load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63000" y="7239000"/>
            <a:ext cx="6350000" cy="444500"/>
          </a:xfrm>
          <a:prstGeom prst="roundRect">
            <a:avLst>
              <a:gd name="adj" fmla="val 10000"/>
            </a:avLst>
          </a:prstGeom>
          <a:solidFill>
            <a:srgbClr val="29B2A6">
              <a:alpha val="6275"/>
            </a:srgbClr>
          </a:solidFill>
          <a:ln w="12700">
            <a:solidFill>
              <a:srgbClr val="29B2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17000" y="7239000"/>
            <a:ext cx="5842000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9B2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Analogy:</a:t>
            </a:r>
            <a:pPr>
              <a:lnSpc>
                <a:spcPct val="100000"/>
              </a:lnSpc>
            </a:pPr>
            <a:r>
              <a:rPr lang="en-US" sz="1600" dirty="0">
                <a:solidFill>
                  <a:srgbClr val="29B2A6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Adding more lanes to the highway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 Optimization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2">
                <a:alpha val="3922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95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ubicBezTo>
                  <a:pt x="0" y="91051"/>
                  <a:pt x="91051" y="0"/>
                  <a:pt x="203200" y="0"/>
                </a:cubicBezTo>
                <a:close/>
                <a:moveTo>
                  <a:pt x="184150" y="95250"/>
                </a:moveTo>
                <a:lnTo>
                  <a:pt x="184150" y="203200"/>
                </a:lnTo>
                <a:cubicBezTo>
                  <a:pt x="184150" y="209550"/>
                  <a:pt x="187325" y="215503"/>
                  <a:pt x="192643" y="219075"/>
                </a:cubicBezTo>
                <a:lnTo>
                  <a:pt x="268843" y="269875"/>
                </a:lnTo>
                <a:cubicBezTo>
                  <a:pt x="277574" y="275749"/>
                  <a:pt x="289401" y="273368"/>
                  <a:pt x="295275" y="264557"/>
                </a:cubicBezTo>
                <a:cubicBezTo>
                  <a:pt x="301149" y="255746"/>
                  <a:pt x="298768" y="243999"/>
                  <a:pt x="289957" y="238125"/>
                </a:cubicBezTo>
                <a:lnTo>
                  <a:pt x="222250" y="193040"/>
                </a:lnTo>
                <a:lnTo>
                  <a:pt x="222250" y="95250"/>
                </a:lnTo>
                <a:cubicBezTo>
                  <a:pt x="222250" y="84693"/>
                  <a:pt x="213757" y="76200"/>
                  <a:pt x="203200" y="76200"/>
                </a:cubicBezTo>
                <a:cubicBezTo>
                  <a:pt x="192643" y="76200"/>
                  <a:pt x="184150" y="84693"/>
                  <a:pt x="184150" y="95250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2476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Pay Per Second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857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Billed only while running. Minimum charge: 60 seconds.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778500" y="1587500"/>
            <a:ext cx="4699000" cy="203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2">
                <a:alpha val="3922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96000" y="1905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90964" y="0"/>
                  <a:pt x="0" y="90964"/>
                  <a:pt x="0" y="203200"/>
                </a:cubicBezTo>
                <a:cubicBezTo>
                  <a:pt x="0" y="315436"/>
                  <a:pt x="90964" y="406400"/>
                  <a:pt x="203200" y="406400"/>
                </a:cubicBezTo>
                <a:cubicBezTo>
                  <a:pt x="257810" y="406400"/>
                  <a:pt x="307419" y="384810"/>
                  <a:pt x="343932" y="349726"/>
                </a:cubicBezTo>
                <a:cubicBezTo>
                  <a:pt x="349726" y="344170"/>
                  <a:pt x="351393" y="335518"/>
                  <a:pt x="348139" y="328216"/>
                </a:cubicBezTo>
                <a:cubicBezTo>
                  <a:pt x="344884" y="320913"/>
                  <a:pt x="337264" y="316389"/>
                  <a:pt x="329248" y="317024"/>
                </a:cubicBezTo>
                <a:cubicBezTo>
                  <a:pt x="325358" y="317341"/>
                  <a:pt x="321469" y="317500"/>
                  <a:pt x="317500" y="317500"/>
                </a:cubicBezTo>
                <a:cubicBezTo>
                  <a:pt x="236855" y="317500"/>
                  <a:pt x="171450" y="252095"/>
                  <a:pt x="171450" y="171450"/>
                </a:cubicBezTo>
                <a:cubicBezTo>
                  <a:pt x="171450" y="114221"/>
                  <a:pt x="204391" y="64611"/>
                  <a:pt x="252492" y="40640"/>
                </a:cubicBezTo>
                <a:cubicBezTo>
                  <a:pt x="259715" y="37068"/>
                  <a:pt x="263843" y="29289"/>
                  <a:pt x="262890" y="21272"/>
                </a:cubicBezTo>
                <a:cubicBezTo>
                  <a:pt x="261938" y="13256"/>
                  <a:pt x="256064" y="6747"/>
                  <a:pt x="248206" y="5001"/>
                </a:cubicBezTo>
                <a:cubicBezTo>
                  <a:pt x="233680" y="1746"/>
                  <a:pt x="218599" y="0"/>
                  <a:pt x="203200" y="0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0" y="2476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Auto-Suspend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0" y="2857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Stops warehouse after idle period. Default: 10 minutes.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795000" y="1587500"/>
            <a:ext cx="4699000" cy="2222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a2332">
                <a:alpha val="3922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1137900" y="1905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68923" y="-7858"/>
                </a:moveTo>
                <a:cubicBezTo>
                  <a:pt x="278368" y="-1032"/>
                  <a:pt x="281861" y="11351"/>
                  <a:pt x="277574" y="22146"/>
                </a:cubicBezTo>
                <a:lnTo>
                  <a:pt x="215344" y="177800"/>
                </a:lnTo>
                <a:lnTo>
                  <a:pt x="330200" y="177800"/>
                </a:lnTo>
                <a:cubicBezTo>
                  <a:pt x="340916" y="177800"/>
                  <a:pt x="350441" y="184468"/>
                  <a:pt x="354092" y="194548"/>
                </a:cubicBezTo>
                <a:cubicBezTo>
                  <a:pt x="357743" y="204629"/>
                  <a:pt x="354648" y="215900"/>
                  <a:pt x="346472" y="222726"/>
                </a:cubicBezTo>
                <a:lnTo>
                  <a:pt x="117872" y="413226"/>
                </a:lnTo>
                <a:cubicBezTo>
                  <a:pt x="108903" y="420688"/>
                  <a:pt x="96123" y="421084"/>
                  <a:pt x="86678" y="414258"/>
                </a:cubicBezTo>
                <a:cubicBezTo>
                  <a:pt x="77232" y="407432"/>
                  <a:pt x="73739" y="395049"/>
                  <a:pt x="78026" y="384254"/>
                </a:cubicBezTo>
                <a:lnTo>
                  <a:pt x="140256" y="228600"/>
                </a:lnTo>
                <a:lnTo>
                  <a:pt x="25400" y="228600"/>
                </a:lnTo>
                <a:cubicBezTo>
                  <a:pt x="14684" y="228600"/>
                  <a:pt x="5159" y="221933"/>
                  <a:pt x="1508" y="211852"/>
                </a:cubicBezTo>
                <a:cubicBezTo>
                  <a:pt x="-2143" y="201771"/>
                  <a:pt x="952" y="190500"/>
                  <a:pt x="9128" y="183674"/>
                </a:cubicBezTo>
                <a:lnTo>
                  <a:pt x="237728" y="-6826"/>
                </a:lnTo>
                <a:cubicBezTo>
                  <a:pt x="246698" y="-14288"/>
                  <a:pt x="259477" y="-14684"/>
                  <a:pt x="268923" y="-7858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14" name="Text 12"/>
          <p:cNvSpPr/>
          <p:nvPr/>
        </p:nvSpPr>
        <p:spPr>
          <a:xfrm>
            <a:off x="11112500" y="24765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Auto-Resume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112500" y="28575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Warehouse starts automatically when a new query arrives.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4127500"/>
            <a:ext cx="14732000" cy="4127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2332">
                <a:alpha val="392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143000" y="431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" y="4737100"/>
            <a:ext cx="635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19" name="Text 17"/>
          <p:cNvSpPr/>
          <p:nvPr/>
        </p:nvSpPr>
        <p:spPr>
          <a:xfrm>
            <a:off x="1143000" y="50165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aggressive auto-suspend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dev/test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right-sized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warehouses — don't over-provision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usage with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 Usage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views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82000" y="5016500"/>
            <a:ext cx="6604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ETL and BI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into different warehouses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RESOURCE_MONITORS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spending alerts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 cache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identical queries are free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Use Case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6858000" cy="2159000"/>
          </a:xfrm>
          <a:prstGeom prst="roundRect">
            <a:avLst>
              <a:gd name="adj" fmla="val 8000"/>
            </a:avLst>
          </a:prstGeom>
          <a:solidFill>
            <a:srgbClr val="1B4D8C">
              <a:alpha val="6275"/>
            </a:srgbClr>
          </a:solidFill>
          <a:ln w="12700">
            <a:solidFill>
              <a:srgbClr val="1B4D8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500" y="1841500"/>
            <a:ext cx="1524000" cy="304800"/>
          </a:xfrm>
          <a:prstGeom prst="roundRect">
            <a:avLst>
              <a:gd name="adj" fmla="val 12000"/>
            </a:avLst>
          </a:prstGeom>
          <a:solidFill>
            <a:srgbClr val="1B4D8C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841500"/>
            <a:ext cx="15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b="1" spc="1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SCENARIO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2286000"/>
            <a:ext cx="6223000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data team with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50 analysts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running Tableau dashboards. Every morning at 9 AM, everyone logs in and queries queue up.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4064000"/>
            <a:ext cx="6858000" cy="1270000"/>
          </a:xfrm>
          <a:prstGeom prst="roundRect">
            <a:avLst>
              <a:gd name="adj" fmla="val 8000"/>
            </a:avLst>
          </a:prstGeom>
          <a:solidFill>
            <a:srgbClr val="DC2626">
              <a:alpha val="6275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9500" y="438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0" name="Text 8"/>
          <p:cNvSpPr/>
          <p:nvPr/>
        </p:nvSpPr>
        <p:spPr>
          <a:xfrm>
            <a:off x="1587500" y="425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87500" y="4635500"/>
            <a:ext cx="571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Dashboards load slowly, users wait, productivity drops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5651500"/>
            <a:ext cx="6858000" cy="2540000"/>
          </a:xfrm>
          <a:prstGeom prst="roundRect">
            <a:avLst>
              <a:gd name="adj" fmla="val 8000"/>
            </a:avLst>
          </a:prstGeom>
          <a:solidFill>
            <a:srgbClr val="29B2A6">
              <a:alpha val="6275"/>
            </a:srgbClr>
          </a:solidFill>
          <a:ln w="12700">
            <a:solidFill>
              <a:srgbClr val="29B2A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9500" y="590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236418" y="147727"/>
                </a:moveTo>
                <a:lnTo>
                  <a:pt x="180856" y="236627"/>
                </a:lnTo>
                <a:cubicBezTo>
                  <a:pt x="177939" y="241280"/>
                  <a:pt x="172938" y="244197"/>
                  <a:pt x="167451" y="244475"/>
                </a:cubicBezTo>
                <a:cubicBezTo>
                  <a:pt x="161965" y="244753"/>
                  <a:pt x="156686" y="242253"/>
                  <a:pt x="153422" y="237808"/>
                </a:cubicBezTo>
                <a:lnTo>
                  <a:pt x="120084" y="193357"/>
                </a:lnTo>
                <a:cubicBezTo>
                  <a:pt x="114528" y="185995"/>
                  <a:pt x="116056" y="175577"/>
                  <a:pt x="123418" y="170021"/>
                </a:cubicBezTo>
                <a:cubicBezTo>
                  <a:pt x="130780" y="164465"/>
                  <a:pt x="141198" y="165993"/>
                  <a:pt x="146754" y="173355"/>
                </a:cubicBezTo>
                <a:lnTo>
                  <a:pt x="165507" y="198358"/>
                </a:lnTo>
                <a:lnTo>
                  <a:pt x="208151" y="130086"/>
                </a:lnTo>
                <a:cubicBezTo>
                  <a:pt x="213013" y="122307"/>
                  <a:pt x="223292" y="119876"/>
                  <a:pt x="231140" y="124807"/>
                </a:cubicBezTo>
                <a:cubicBezTo>
                  <a:pt x="238988" y="129738"/>
                  <a:pt x="241350" y="139948"/>
                  <a:pt x="236418" y="147796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584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Solution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9500" y="6286500"/>
            <a:ext cx="622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Multi-cluster warehouse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(Medium, 3 clusters)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Min clusters: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(normal load)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 clusters: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(morning rush)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Auto-suspend: </a:t>
            </a:r>
            <a:pPr>
              <a:lnSpc>
                <a:spcPct val="15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5 minutes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28000" y="1587500"/>
            <a:ext cx="7366000" cy="6604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5400000">
              <a:srgbClr val="1a2332">
                <a:alpha val="392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572500" y="1968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spc="100" kern="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572500" y="2387600"/>
            <a:ext cx="635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19" name="Text 17"/>
          <p:cNvSpPr/>
          <p:nvPr/>
        </p:nvSpPr>
        <p:spPr>
          <a:xfrm>
            <a:off x="8572500" y="2794000"/>
            <a:ext cx="647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3x faster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72500" y="3492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82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Dashboard load times during peak hours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72500" y="4064000"/>
            <a:ext cx="6477000" cy="12700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22" name="Text 20"/>
          <p:cNvSpPr/>
          <p:nvPr/>
        </p:nvSpPr>
        <p:spPr>
          <a:xfrm>
            <a:off x="8572500" y="4381500"/>
            <a:ext cx="647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 manual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72500" y="50800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82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Intervention required — fully automatic scaling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572500" y="5651500"/>
            <a:ext cx="6477000" cy="12700"/>
          </a:xfrm>
          <a:prstGeom prst="rect">
            <a:avLst/>
          </a:prstGeom>
          <a:solidFill>
            <a:srgbClr val="D8DEE6"/>
          </a:solidFill>
          <a:ln/>
        </p:spPr>
      </p:sp>
      <p:sp>
        <p:nvSpPr>
          <p:cNvPr id="25" name="Text 23"/>
          <p:cNvSpPr/>
          <p:nvPr/>
        </p:nvSpPr>
        <p:spPr>
          <a:xfrm>
            <a:off x="8572500" y="5969000"/>
            <a:ext cx="6477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 lower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72500" y="6667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B82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Cost vs. running a single oversized warehouse 24/7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8890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8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168400"/>
            <a:ext cx="1016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5875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2">
                <a:alpha val="3922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52500" y="1714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24000" y="1778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Right-size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your warehouse — start small, scale up based on performance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778500" y="15875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2">
                <a:alpha val="3922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69000" y="1714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40500" y="17780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workloads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ETL warehouse ≠ BI warehouse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795000" y="1587500"/>
            <a:ext cx="4699000" cy="127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2">
                <a:alpha val="3922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985500" y="1714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557000" y="1689100"/>
            <a:ext cx="3683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actively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RESOURCE_MONITORS for spending alerts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2000" y="30480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2">
                <a:alpha val="3922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52500" y="317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24000" y="32385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</a:t>
            </a:r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auto-suspend wisely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Prod: 10 min, Dev: 1-2 min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778500" y="30480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2">
                <a:alpha val="3922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69000" y="317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40500" y="32385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Leverage result cache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identical queries are free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795000" y="30480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a2332">
                <a:alpha val="3922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985500" y="3175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57000" y="3238500"/>
            <a:ext cx="368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b="1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Optimize queries first</a:t>
            </a:r>
            <a:pPr>
              <a:lnSpc>
                <a:spcPct val="140000"/>
              </a:lnSpc>
            </a:pPr>
            <a:r>
              <a:rPr lang="en-US" sz="1600" dirty="0">
                <a:solidFill>
                  <a:srgbClr val="1A2332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before jumping to larger size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4699000"/>
            <a:ext cx="14732000" cy="3429000"/>
          </a:xfrm>
          <a:prstGeom prst="roundRect">
            <a:avLst>
              <a:gd name="adj" fmla="val 6000"/>
            </a:avLst>
          </a:prstGeom>
          <a:solidFill>
            <a:srgbClr val="1B4D8C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5016500"/>
            <a:ext cx="6350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Checklist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43000" y="5486400"/>
            <a:ext cx="635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25" name="Shape 23"/>
          <p:cNvSpPr/>
          <p:nvPr/>
        </p:nvSpPr>
        <p:spPr>
          <a:xfrm>
            <a:off x="1162050" y="5842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83594" y="126623"/>
                </a:moveTo>
                <a:lnTo>
                  <a:pt x="135969" y="202823"/>
                </a:lnTo>
                <a:cubicBezTo>
                  <a:pt x="133469" y="206812"/>
                  <a:pt x="129183" y="209312"/>
                  <a:pt x="124480" y="209550"/>
                </a:cubicBezTo>
                <a:cubicBezTo>
                  <a:pt x="119777" y="209788"/>
                  <a:pt x="115252" y="207645"/>
                  <a:pt x="112455" y="203835"/>
                </a:cubicBezTo>
                <a:lnTo>
                  <a:pt x="83880" y="165735"/>
                </a:lnTo>
                <a:cubicBezTo>
                  <a:pt x="79117" y="159425"/>
                  <a:pt x="80427" y="150495"/>
                  <a:pt x="86737" y="145733"/>
                </a:cubicBezTo>
                <a:cubicBezTo>
                  <a:pt x="93047" y="140970"/>
                  <a:pt x="101977" y="142280"/>
                  <a:pt x="106740" y="148590"/>
                </a:cubicBezTo>
                <a:lnTo>
                  <a:pt x="122813" y="170021"/>
                </a:lnTo>
                <a:lnTo>
                  <a:pt x="159365" y="111502"/>
                </a:lnTo>
                <a:cubicBezTo>
                  <a:pt x="163532" y="104835"/>
                  <a:pt x="172343" y="102751"/>
                  <a:pt x="179070" y="106978"/>
                </a:cubicBezTo>
                <a:cubicBezTo>
                  <a:pt x="185797" y="111204"/>
                  <a:pt x="187821" y="119955"/>
                  <a:pt x="183594" y="126683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26" name="Text 24"/>
          <p:cNvSpPr/>
          <p:nvPr/>
        </p:nvSpPr>
        <p:spPr>
          <a:xfrm>
            <a:off x="1587500" y="5778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Start with X-Small or Small for new workloads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62050" y="6604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83594" y="126623"/>
                </a:moveTo>
                <a:lnTo>
                  <a:pt x="135969" y="202823"/>
                </a:lnTo>
                <a:cubicBezTo>
                  <a:pt x="133469" y="206812"/>
                  <a:pt x="129183" y="209312"/>
                  <a:pt x="124480" y="209550"/>
                </a:cubicBezTo>
                <a:cubicBezTo>
                  <a:pt x="119777" y="209788"/>
                  <a:pt x="115252" y="207645"/>
                  <a:pt x="112455" y="203835"/>
                </a:cubicBezTo>
                <a:lnTo>
                  <a:pt x="83880" y="165735"/>
                </a:lnTo>
                <a:cubicBezTo>
                  <a:pt x="79117" y="159425"/>
                  <a:pt x="80427" y="150495"/>
                  <a:pt x="86737" y="145733"/>
                </a:cubicBezTo>
                <a:cubicBezTo>
                  <a:pt x="93047" y="140970"/>
                  <a:pt x="101977" y="142280"/>
                  <a:pt x="106740" y="148590"/>
                </a:cubicBezTo>
                <a:lnTo>
                  <a:pt x="122813" y="170021"/>
                </a:lnTo>
                <a:lnTo>
                  <a:pt x="159365" y="111502"/>
                </a:lnTo>
                <a:cubicBezTo>
                  <a:pt x="163532" y="104835"/>
                  <a:pt x="172343" y="102751"/>
                  <a:pt x="179070" y="106978"/>
                </a:cubicBezTo>
                <a:cubicBezTo>
                  <a:pt x="185797" y="111204"/>
                  <a:pt x="187821" y="119955"/>
                  <a:pt x="183594" y="126683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28" name="Text 26"/>
          <p:cNvSpPr/>
          <p:nvPr/>
        </p:nvSpPr>
        <p:spPr>
          <a:xfrm>
            <a:off x="1587500" y="6540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Use multi-cluster for variable user concurrency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01050" y="5842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83594" y="126623"/>
                </a:moveTo>
                <a:lnTo>
                  <a:pt x="135969" y="202823"/>
                </a:lnTo>
                <a:cubicBezTo>
                  <a:pt x="133469" y="206812"/>
                  <a:pt x="129183" y="209312"/>
                  <a:pt x="124480" y="209550"/>
                </a:cubicBezTo>
                <a:cubicBezTo>
                  <a:pt x="119777" y="209788"/>
                  <a:pt x="115252" y="207645"/>
                  <a:pt x="112455" y="203835"/>
                </a:cubicBezTo>
                <a:lnTo>
                  <a:pt x="83880" y="165735"/>
                </a:lnTo>
                <a:cubicBezTo>
                  <a:pt x="79117" y="159425"/>
                  <a:pt x="80427" y="150495"/>
                  <a:pt x="86737" y="145733"/>
                </a:cubicBezTo>
                <a:cubicBezTo>
                  <a:pt x="93047" y="140970"/>
                  <a:pt x="101977" y="142280"/>
                  <a:pt x="106740" y="148590"/>
                </a:cubicBezTo>
                <a:lnTo>
                  <a:pt x="122813" y="170021"/>
                </a:lnTo>
                <a:lnTo>
                  <a:pt x="159365" y="111502"/>
                </a:lnTo>
                <a:cubicBezTo>
                  <a:pt x="163532" y="104835"/>
                  <a:pt x="172343" y="102751"/>
                  <a:pt x="179070" y="106978"/>
                </a:cubicBezTo>
                <a:cubicBezTo>
                  <a:pt x="185797" y="111204"/>
                  <a:pt x="187821" y="119955"/>
                  <a:pt x="183594" y="126683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30" name="Text 28"/>
          <p:cNvSpPr/>
          <p:nvPr/>
        </p:nvSpPr>
        <p:spPr>
          <a:xfrm>
            <a:off x="8826500" y="5778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Set resource monitors with spending limits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401050" y="6604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  <a:moveTo>
                  <a:pt x="183594" y="126623"/>
                </a:moveTo>
                <a:lnTo>
                  <a:pt x="135969" y="202823"/>
                </a:lnTo>
                <a:cubicBezTo>
                  <a:pt x="133469" y="206812"/>
                  <a:pt x="129183" y="209312"/>
                  <a:pt x="124480" y="209550"/>
                </a:cubicBezTo>
                <a:cubicBezTo>
                  <a:pt x="119777" y="209788"/>
                  <a:pt x="115252" y="207645"/>
                  <a:pt x="112455" y="203835"/>
                </a:cubicBezTo>
                <a:lnTo>
                  <a:pt x="83880" y="165735"/>
                </a:lnTo>
                <a:cubicBezTo>
                  <a:pt x="79117" y="159425"/>
                  <a:pt x="80427" y="150495"/>
                  <a:pt x="86737" y="145733"/>
                </a:cubicBezTo>
                <a:cubicBezTo>
                  <a:pt x="93047" y="140970"/>
                  <a:pt x="101977" y="142280"/>
                  <a:pt x="106740" y="148590"/>
                </a:cubicBezTo>
                <a:lnTo>
                  <a:pt x="122813" y="170021"/>
                </a:lnTo>
                <a:lnTo>
                  <a:pt x="159365" y="111502"/>
                </a:lnTo>
                <a:cubicBezTo>
                  <a:pt x="163532" y="104835"/>
                  <a:pt x="172343" y="102751"/>
                  <a:pt x="179070" y="106978"/>
                </a:cubicBezTo>
                <a:cubicBezTo>
                  <a:pt x="185797" y="111204"/>
                  <a:pt x="187821" y="119955"/>
                  <a:pt x="183594" y="126683"/>
                </a:cubicBezTo>
                <a:close/>
              </a:path>
            </a:pathLst>
          </a:custGeom>
          <a:solidFill>
            <a:srgbClr val="29B2A6"/>
          </a:solidFill>
          <a:ln/>
        </p:spPr>
      </p:sp>
      <p:sp>
        <p:nvSpPr>
          <p:cNvPr id="32" name="Text 30"/>
          <p:cNvSpPr/>
          <p:nvPr/>
        </p:nvSpPr>
        <p:spPr>
          <a:xfrm>
            <a:off x="8826500" y="6540500"/>
            <a:ext cx="5461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Review warehouse usage weekly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240000" y="87630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400" dirty="0">
                <a:solidFill>
                  <a:srgbClr val="6B8299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2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3335000" y="6604000"/>
            <a:ext cx="2921000" cy="2540000"/>
          </a:xfrm>
          <a:prstGeom prst="ellipse">
            <a:avLst/>
          </a:prstGeom>
          <a:solidFill>
            <a:srgbClr val="1B4D8C">
              <a:alpha val="9412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3970000" y="0"/>
            <a:ext cx="2286000" cy="2286000"/>
          </a:xfrm>
          <a:prstGeom prst="ellipse">
            <a:avLst/>
          </a:prstGeom>
          <a:solidFill>
            <a:srgbClr val="29B2A6">
              <a:alpha val="7059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016000" y="1270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16000" y="1625600"/>
            <a:ext cx="635000" cy="38100"/>
          </a:xfrm>
          <a:prstGeom prst="rect">
            <a:avLst/>
          </a:prstGeom>
          <a:solidFill>
            <a:srgbClr val="29B2A6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68500"/>
            <a:ext cx="7112000" cy="431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Warehouses =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compute engines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 Snowflake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Separate from storage —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 compute without touching data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Choose the right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size and scaling strategy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your workload</a:t>
            </a:r>
            <a:endParaRPr lang="en-US" sz="1600" dirty="0"/>
          </a:p>
          <a:p>
            <a:pPr marL="254000" indent="-254000">
              <a:lnSpc>
                <a:spcPct val="170000"/>
              </a:lnSpc>
              <a:spcBef>
                <a:spcPts val="10"/>
              </a:spcBef>
              <a:buSzPct val="100000"/>
              <a:buChar char="•"/>
            </a:pPr>
            <a:r>
              <a:rPr lang="en-US" sz="2000" dirty="0">
                <a:solidFill>
                  <a:srgbClr val="E2E8F0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Monitor and optimize costs with </a:t>
            </a:r>
            <a:pPr>
              <a:lnSpc>
                <a:spcPct val="170000"/>
              </a:lnSpc>
              <a:spcBef>
                <a:spcPts val="10"/>
              </a:spcBef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auto-suspend and right-sizing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890000" y="1524000"/>
            <a:ext cx="25400" cy="5334000"/>
          </a:xfrm>
          <a:prstGeom prst="rect">
            <a:avLst/>
          </a:prstGeom>
          <a:solidFill>
            <a:srgbClr val="6B8299">
              <a:alpha val="25098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9652000" y="2286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29B2A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 &amp; 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52000" y="2794000"/>
            <a:ext cx="584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52000" y="3746500"/>
            <a:ext cx="584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B8C8D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Let's discuss!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13900" y="4699000"/>
            <a:ext cx="685800" cy="609600"/>
          </a:xfrm>
          <a:custGeom>
            <a:avLst/>
            <a:gdLst/>
            <a:ahLst/>
            <a:cxnLst/>
            <a:rect l="l" t="t" r="r" b="b"/>
            <a:pathLst>
              <a:path w="685800" h="609600">
                <a:moveTo>
                  <a:pt x="457200" y="171450"/>
                </a:moveTo>
                <a:cubicBezTo>
                  <a:pt x="457200" y="287179"/>
                  <a:pt x="354806" y="381000"/>
                  <a:pt x="228600" y="381000"/>
                </a:cubicBezTo>
                <a:cubicBezTo>
                  <a:pt x="196810" y="381000"/>
                  <a:pt x="166568" y="375047"/>
                  <a:pt x="139065" y="364331"/>
                </a:cubicBezTo>
                <a:lnTo>
                  <a:pt x="41910" y="415766"/>
                </a:lnTo>
                <a:cubicBezTo>
                  <a:pt x="30837" y="421600"/>
                  <a:pt x="17264" y="419576"/>
                  <a:pt x="8334" y="410766"/>
                </a:cubicBezTo>
                <a:cubicBezTo>
                  <a:pt x="-595" y="401955"/>
                  <a:pt x="-2619" y="388263"/>
                  <a:pt x="3334" y="377190"/>
                </a:cubicBezTo>
                <a:lnTo>
                  <a:pt x="45720" y="297180"/>
                </a:lnTo>
                <a:cubicBezTo>
                  <a:pt x="17026" y="262176"/>
                  <a:pt x="0" y="218599"/>
                  <a:pt x="0" y="171450"/>
                </a:cubicBezTo>
                <a:cubicBezTo>
                  <a:pt x="0" y="55721"/>
                  <a:pt x="102394" y="-38100"/>
                  <a:pt x="228600" y="-38100"/>
                </a:cubicBezTo>
                <a:cubicBezTo>
                  <a:pt x="354806" y="-38100"/>
                  <a:pt x="457200" y="55721"/>
                  <a:pt x="457200" y="171450"/>
                </a:cubicBezTo>
                <a:close/>
                <a:moveTo>
                  <a:pt x="457200" y="609600"/>
                </a:moveTo>
                <a:cubicBezTo>
                  <a:pt x="345162" y="609600"/>
                  <a:pt x="251936" y="535662"/>
                  <a:pt x="232410" y="438150"/>
                </a:cubicBezTo>
                <a:cubicBezTo>
                  <a:pt x="375285" y="436364"/>
                  <a:pt x="499467" y="334685"/>
                  <a:pt x="513159" y="196810"/>
                </a:cubicBezTo>
                <a:cubicBezTo>
                  <a:pt x="612338" y="219670"/>
                  <a:pt x="685800" y="301943"/>
                  <a:pt x="685800" y="400050"/>
                </a:cubicBezTo>
                <a:cubicBezTo>
                  <a:pt x="685800" y="447199"/>
                  <a:pt x="668774" y="490776"/>
                  <a:pt x="640080" y="525780"/>
                </a:cubicBezTo>
                <a:lnTo>
                  <a:pt x="682466" y="605790"/>
                </a:lnTo>
                <a:cubicBezTo>
                  <a:pt x="688300" y="616863"/>
                  <a:pt x="686276" y="630436"/>
                  <a:pt x="677466" y="639366"/>
                </a:cubicBezTo>
                <a:cubicBezTo>
                  <a:pt x="668655" y="648295"/>
                  <a:pt x="654963" y="650319"/>
                  <a:pt x="643890" y="644366"/>
                </a:cubicBezTo>
                <a:lnTo>
                  <a:pt x="546735" y="592931"/>
                </a:lnTo>
                <a:cubicBezTo>
                  <a:pt x="519232" y="603647"/>
                  <a:pt x="488990" y="609600"/>
                  <a:pt x="457200" y="609600"/>
                </a:cubicBezTo>
                <a:close/>
              </a:path>
            </a:pathLst>
          </a:custGeom>
          <a:solidFill>
            <a:srgbClr val="6B8299">
              <a:alpha val="37647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016000" y="7366000"/>
            <a:ext cx="14224000" cy="12700"/>
          </a:xfrm>
          <a:prstGeom prst="rect">
            <a:avLst/>
          </a:prstGeom>
          <a:solidFill>
            <a:srgbClr val="6B8299">
              <a:alpha val="18824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1016000" y="7620000"/>
            <a:ext cx="762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B8299">
                    <a:alpha val="50196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Virtual Warehouses in Snowflake — Compute Layer Explained Simply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 Warehouses in Snowflake</dc:title>
  <dc:subject>Virtual Warehouses in Snowflake</dc:subject>
  <dc:creator>Kimi</dc:creator>
  <cp:lastModifiedBy>Kimi</cp:lastModifiedBy>
  <cp:revision>1</cp:revision>
  <dcterms:created xsi:type="dcterms:W3CDTF">2026-04-28T20:53:28Z</dcterms:created>
  <dcterms:modified xsi:type="dcterms:W3CDTF">2026-04-28T20:53:28Z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{"Label":"Virtual Warehouses in Snowflake","ContentProducer":"001191110108MACG2KBH8F10000","ProduceID":"19dd5dd9-98f2-877c-8000-0000f24bd120","ReservedCode1":"","ContentPropagator":"001191110108MACG2KBH8F20000","PropagateID":"19dd5dd9-98f2-877c-8000-0000f24bd120","ReservedCode2":""}</vt:lpwstr>
  </property>
</Properties>
</file>